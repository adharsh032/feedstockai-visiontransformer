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85" r:id="rId2"/>
    <p:sldId id="262" r:id="rId3"/>
    <p:sldId id="297" r:id="rId4"/>
    <p:sldId id="274" r:id="rId5"/>
    <p:sldId id="286" r:id="rId6"/>
    <p:sldId id="283" r:id="rId7"/>
    <p:sldId id="298" r:id="rId8"/>
    <p:sldId id="299" r:id="rId9"/>
    <p:sldId id="290" r:id="rId10"/>
    <p:sldId id="288" r:id="rId11"/>
    <p:sldId id="257" r:id="rId12"/>
    <p:sldId id="300" r:id="rId13"/>
    <p:sldId id="289" r:id="rId14"/>
    <p:sldId id="296" r:id="rId15"/>
    <p:sldId id="291" r:id="rId16"/>
    <p:sldId id="292" r:id="rId17"/>
    <p:sldId id="293" r:id="rId18"/>
    <p:sldId id="295" r:id="rId19"/>
    <p:sldId id="294" r:id="rId20"/>
    <p:sldId id="301" r:id="rId21"/>
    <p:sldId id="304" r:id="rId22"/>
    <p:sldId id="305" r:id="rId23"/>
    <p:sldId id="276" r:id="rId24"/>
    <p:sldId id="261" r:id="rId25"/>
    <p:sldId id="30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922" autoAdjust="0"/>
  </p:normalViewPr>
  <p:slideViewPr>
    <p:cSldViewPr snapToGrid="0">
      <p:cViewPr varScale="1">
        <p:scale>
          <a:sx n="110" d="100"/>
          <a:sy n="110" d="100"/>
        </p:scale>
        <p:origin x="594"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4FB383-349A-4DEE-AC59-470B25F76506}" type="datetimeFigureOut">
              <a:rPr lang="en-IN" smtClean="0"/>
              <a:pPr/>
              <a:t>05-11-2025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724172-080A-45B4-8B0C-AF02FDDC0330}" type="slidenum">
              <a:rPr lang="en-IN" smtClean="0"/>
              <a:pPr/>
              <a:t>‹#›</a:t>
            </a:fld>
            <a:endParaRPr lang="en-IN"/>
          </a:p>
        </p:txBody>
      </p:sp>
    </p:spTree>
    <p:extLst>
      <p:ext uri="{BB962C8B-B14F-4D97-AF65-F5344CB8AC3E}">
        <p14:creationId xmlns:p14="http://schemas.microsoft.com/office/powerpoint/2010/main" val="981700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8724172-080A-45B4-8B0C-AF02FDDC0330}" type="slidenum">
              <a:rPr lang="en-IN" smtClean="0"/>
              <a:pPr/>
              <a:t>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77B97-8E20-D8C2-2F03-40D6F64594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B1D437D-FDB7-1FF9-BC7F-603673E1F5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657A13-B462-D49C-C89F-0F1CC6CAADA3}"/>
              </a:ext>
            </a:extLst>
          </p:cNvPr>
          <p:cNvSpPr>
            <a:spLocks noGrp="1"/>
          </p:cNvSpPr>
          <p:nvPr>
            <p:ph type="dt" sz="half" idx="10"/>
          </p:nvPr>
        </p:nvSpPr>
        <p:spPr/>
        <p:txBody>
          <a:bodyPr/>
          <a:lstStyle/>
          <a:p>
            <a:fld id="{5F8AFDD1-794E-41D0-B15F-0FA4E5C69CFE}" type="datetimeFigureOut">
              <a:rPr lang="en-US" smtClean="0"/>
              <a:pPr/>
              <a:t>11/5/2025</a:t>
            </a:fld>
            <a:endParaRPr lang="en-US"/>
          </a:p>
        </p:txBody>
      </p:sp>
      <p:sp>
        <p:nvSpPr>
          <p:cNvPr id="5" name="Footer Placeholder 4">
            <a:extLst>
              <a:ext uri="{FF2B5EF4-FFF2-40B4-BE49-F238E27FC236}">
                <a16:creationId xmlns:a16="http://schemas.microsoft.com/office/drawing/2014/main" id="{0926DAB2-39B7-A914-6812-EE32CDF71A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21515-AE52-9326-54AC-9B3E706CAD3C}"/>
              </a:ext>
            </a:extLst>
          </p:cNvPr>
          <p:cNvSpPr>
            <a:spLocks noGrp="1"/>
          </p:cNvSpPr>
          <p:nvPr>
            <p:ph type="sldNum" sz="quarter" idx="12"/>
          </p:nvPr>
        </p:nvSpPr>
        <p:spPr/>
        <p:txBody>
          <a:bodyPr/>
          <a:lstStyle/>
          <a:p>
            <a:fld id="{17A5EBBD-7586-4CE4-B96B-D655D75B537A}" type="slidenum">
              <a:rPr lang="en-US" smtClean="0"/>
              <a:pPr/>
              <a:t>‹#›</a:t>
            </a:fld>
            <a:endParaRPr lang="en-US"/>
          </a:p>
        </p:txBody>
      </p:sp>
    </p:spTree>
    <p:extLst>
      <p:ext uri="{BB962C8B-B14F-4D97-AF65-F5344CB8AC3E}">
        <p14:creationId xmlns:p14="http://schemas.microsoft.com/office/powerpoint/2010/main" val="1880563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C6EC6-524B-C122-5651-D9D3351221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191ECC-2555-435E-B68C-0EFB6756CD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A4027F-F985-1115-127D-66B6EA27A5C3}"/>
              </a:ext>
            </a:extLst>
          </p:cNvPr>
          <p:cNvSpPr>
            <a:spLocks noGrp="1"/>
          </p:cNvSpPr>
          <p:nvPr>
            <p:ph type="dt" sz="half" idx="10"/>
          </p:nvPr>
        </p:nvSpPr>
        <p:spPr/>
        <p:txBody>
          <a:bodyPr/>
          <a:lstStyle/>
          <a:p>
            <a:fld id="{5F8AFDD1-794E-41D0-B15F-0FA4E5C69CFE}" type="datetimeFigureOut">
              <a:rPr lang="en-US" smtClean="0"/>
              <a:pPr/>
              <a:t>11/5/2025</a:t>
            </a:fld>
            <a:endParaRPr lang="en-US"/>
          </a:p>
        </p:txBody>
      </p:sp>
      <p:sp>
        <p:nvSpPr>
          <p:cNvPr id="5" name="Footer Placeholder 4">
            <a:extLst>
              <a:ext uri="{FF2B5EF4-FFF2-40B4-BE49-F238E27FC236}">
                <a16:creationId xmlns:a16="http://schemas.microsoft.com/office/drawing/2014/main" id="{66BEECC4-AF42-2EEA-8306-A76F95FAAD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332858-7B04-D88C-2560-1B01E7ED0211}"/>
              </a:ext>
            </a:extLst>
          </p:cNvPr>
          <p:cNvSpPr>
            <a:spLocks noGrp="1"/>
          </p:cNvSpPr>
          <p:nvPr>
            <p:ph type="sldNum" sz="quarter" idx="12"/>
          </p:nvPr>
        </p:nvSpPr>
        <p:spPr/>
        <p:txBody>
          <a:bodyPr/>
          <a:lstStyle/>
          <a:p>
            <a:fld id="{17A5EBBD-7586-4CE4-B96B-D655D75B537A}" type="slidenum">
              <a:rPr lang="en-US" smtClean="0"/>
              <a:pPr/>
              <a:t>‹#›</a:t>
            </a:fld>
            <a:endParaRPr lang="en-US"/>
          </a:p>
        </p:txBody>
      </p:sp>
    </p:spTree>
    <p:extLst>
      <p:ext uri="{BB962C8B-B14F-4D97-AF65-F5344CB8AC3E}">
        <p14:creationId xmlns:p14="http://schemas.microsoft.com/office/powerpoint/2010/main" val="3483832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61CFB-2118-4A88-09EF-9D3C71A1BA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644E59-2FB2-B9DD-C683-F5143D7B1D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1234B6-FC66-ACEF-E4E7-A4A4551802F1}"/>
              </a:ext>
            </a:extLst>
          </p:cNvPr>
          <p:cNvSpPr>
            <a:spLocks noGrp="1"/>
          </p:cNvSpPr>
          <p:nvPr>
            <p:ph type="dt" sz="half" idx="10"/>
          </p:nvPr>
        </p:nvSpPr>
        <p:spPr/>
        <p:txBody>
          <a:bodyPr/>
          <a:lstStyle/>
          <a:p>
            <a:fld id="{5F8AFDD1-794E-41D0-B15F-0FA4E5C69CFE}" type="datetimeFigureOut">
              <a:rPr lang="en-US" smtClean="0"/>
              <a:pPr/>
              <a:t>11/5/2025</a:t>
            </a:fld>
            <a:endParaRPr lang="en-US"/>
          </a:p>
        </p:txBody>
      </p:sp>
      <p:sp>
        <p:nvSpPr>
          <p:cNvPr id="5" name="Footer Placeholder 4">
            <a:extLst>
              <a:ext uri="{FF2B5EF4-FFF2-40B4-BE49-F238E27FC236}">
                <a16:creationId xmlns:a16="http://schemas.microsoft.com/office/drawing/2014/main" id="{7F4B8BB2-9E64-583A-B677-2F2DA56520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6800F-5143-5C11-A717-59F170E860F7}"/>
              </a:ext>
            </a:extLst>
          </p:cNvPr>
          <p:cNvSpPr>
            <a:spLocks noGrp="1"/>
          </p:cNvSpPr>
          <p:nvPr>
            <p:ph type="sldNum" sz="quarter" idx="12"/>
          </p:nvPr>
        </p:nvSpPr>
        <p:spPr/>
        <p:txBody>
          <a:bodyPr/>
          <a:lstStyle/>
          <a:p>
            <a:fld id="{17A5EBBD-7586-4CE4-B96B-D655D75B537A}" type="slidenum">
              <a:rPr lang="en-US" smtClean="0"/>
              <a:pPr/>
              <a:t>‹#›</a:t>
            </a:fld>
            <a:endParaRPr lang="en-US"/>
          </a:p>
        </p:txBody>
      </p:sp>
    </p:spTree>
    <p:extLst>
      <p:ext uri="{BB962C8B-B14F-4D97-AF65-F5344CB8AC3E}">
        <p14:creationId xmlns:p14="http://schemas.microsoft.com/office/powerpoint/2010/main" val="3608697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B5C75-4FDD-EF5E-6DDB-F86715BD38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696C70-9ACD-1279-7BAD-A341E5B079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EEB741-656E-5AB0-5A4C-1ABE2682FE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FC1229-ECB6-D63B-1595-2745087E0843}"/>
              </a:ext>
            </a:extLst>
          </p:cNvPr>
          <p:cNvSpPr>
            <a:spLocks noGrp="1"/>
          </p:cNvSpPr>
          <p:nvPr>
            <p:ph type="dt" sz="half" idx="10"/>
          </p:nvPr>
        </p:nvSpPr>
        <p:spPr/>
        <p:txBody>
          <a:bodyPr/>
          <a:lstStyle/>
          <a:p>
            <a:fld id="{5F8AFDD1-794E-41D0-B15F-0FA4E5C69CFE}" type="datetimeFigureOut">
              <a:rPr lang="en-US" smtClean="0"/>
              <a:pPr/>
              <a:t>11/5/2025</a:t>
            </a:fld>
            <a:endParaRPr lang="en-US"/>
          </a:p>
        </p:txBody>
      </p:sp>
      <p:sp>
        <p:nvSpPr>
          <p:cNvPr id="6" name="Footer Placeholder 5">
            <a:extLst>
              <a:ext uri="{FF2B5EF4-FFF2-40B4-BE49-F238E27FC236}">
                <a16:creationId xmlns:a16="http://schemas.microsoft.com/office/drawing/2014/main" id="{E367341C-D702-6746-01AB-E6A2CD78D1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6528FC-F09D-0CBE-08E8-9E857BC8FA9F}"/>
              </a:ext>
            </a:extLst>
          </p:cNvPr>
          <p:cNvSpPr>
            <a:spLocks noGrp="1"/>
          </p:cNvSpPr>
          <p:nvPr>
            <p:ph type="sldNum" sz="quarter" idx="12"/>
          </p:nvPr>
        </p:nvSpPr>
        <p:spPr/>
        <p:txBody>
          <a:bodyPr/>
          <a:lstStyle/>
          <a:p>
            <a:fld id="{17A5EBBD-7586-4CE4-B96B-D655D75B537A}" type="slidenum">
              <a:rPr lang="en-US" smtClean="0"/>
              <a:pPr/>
              <a:t>‹#›</a:t>
            </a:fld>
            <a:endParaRPr lang="en-US"/>
          </a:p>
        </p:txBody>
      </p:sp>
    </p:spTree>
    <p:extLst>
      <p:ext uri="{BB962C8B-B14F-4D97-AF65-F5344CB8AC3E}">
        <p14:creationId xmlns:p14="http://schemas.microsoft.com/office/powerpoint/2010/main" val="333624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6F3F8-DFA1-1D91-7446-391B7A37A4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67582C-1757-DEAE-9C98-D9FE82399C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7368AE-51A0-EF32-B5F8-67FDA012B7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79C98E-027B-3D91-D733-D6B02623CE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0DF48A-F51F-81AA-9F42-A4A0B03E24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AEC100-5D18-78FD-FC8D-C8E7CFE26445}"/>
              </a:ext>
            </a:extLst>
          </p:cNvPr>
          <p:cNvSpPr>
            <a:spLocks noGrp="1"/>
          </p:cNvSpPr>
          <p:nvPr>
            <p:ph type="dt" sz="half" idx="10"/>
          </p:nvPr>
        </p:nvSpPr>
        <p:spPr/>
        <p:txBody>
          <a:bodyPr/>
          <a:lstStyle/>
          <a:p>
            <a:fld id="{5F8AFDD1-794E-41D0-B15F-0FA4E5C69CFE}" type="datetimeFigureOut">
              <a:rPr lang="en-US" smtClean="0"/>
              <a:pPr/>
              <a:t>11/5/2025</a:t>
            </a:fld>
            <a:endParaRPr lang="en-US"/>
          </a:p>
        </p:txBody>
      </p:sp>
      <p:sp>
        <p:nvSpPr>
          <p:cNvPr id="8" name="Footer Placeholder 7">
            <a:extLst>
              <a:ext uri="{FF2B5EF4-FFF2-40B4-BE49-F238E27FC236}">
                <a16:creationId xmlns:a16="http://schemas.microsoft.com/office/drawing/2014/main" id="{4F321412-561A-D41A-6915-F8AF20F4AB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7390A5-C634-7A94-488C-73B289E8175F}"/>
              </a:ext>
            </a:extLst>
          </p:cNvPr>
          <p:cNvSpPr>
            <a:spLocks noGrp="1"/>
          </p:cNvSpPr>
          <p:nvPr>
            <p:ph type="sldNum" sz="quarter" idx="12"/>
          </p:nvPr>
        </p:nvSpPr>
        <p:spPr/>
        <p:txBody>
          <a:bodyPr/>
          <a:lstStyle/>
          <a:p>
            <a:fld id="{17A5EBBD-7586-4CE4-B96B-D655D75B537A}" type="slidenum">
              <a:rPr lang="en-US" smtClean="0"/>
              <a:pPr/>
              <a:t>‹#›</a:t>
            </a:fld>
            <a:endParaRPr lang="en-US"/>
          </a:p>
        </p:txBody>
      </p:sp>
    </p:spTree>
    <p:extLst>
      <p:ext uri="{BB962C8B-B14F-4D97-AF65-F5344CB8AC3E}">
        <p14:creationId xmlns:p14="http://schemas.microsoft.com/office/powerpoint/2010/main" val="2388727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A340D-CDBB-9EAD-5AB0-D8F16A0D79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29FB612-20BE-EE8C-1BF3-2054FEE414D1}"/>
              </a:ext>
            </a:extLst>
          </p:cNvPr>
          <p:cNvSpPr>
            <a:spLocks noGrp="1"/>
          </p:cNvSpPr>
          <p:nvPr>
            <p:ph type="dt" sz="half" idx="10"/>
          </p:nvPr>
        </p:nvSpPr>
        <p:spPr/>
        <p:txBody>
          <a:bodyPr/>
          <a:lstStyle/>
          <a:p>
            <a:fld id="{5F8AFDD1-794E-41D0-B15F-0FA4E5C69CFE}" type="datetimeFigureOut">
              <a:rPr lang="en-US" smtClean="0"/>
              <a:pPr/>
              <a:t>11/5/2025</a:t>
            </a:fld>
            <a:endParaRPr lang="en-US"/>
          </a:p>
        </p:txBody>
      </p:sp>
      <p:sp>
        <p:nvSpPr>
          <p:cNvPr id="4" name="Footer Placeholder 3">
            <a:extLst>
              <a:ext uri="{FF2B5EF4-FFF2-40B4-BE49-F238E27FC236}">
                <a16:creationId xmlns:a16="http://schemas.microsoft.com/office/drawing/2014/main" id="{79D65570-22AA-092D-59B9-D47515D561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DB289F-9F63-1993-F71D-E4D1A5175693}"/>
              </a:ext>
            </a:extLst>
          </p:cNvPr>
          <p:cNvSpPr>
            <a:spLocks noGrp="1"/>
          </p:cNvSpPr>
          <p:nvPr>
            <p:ph type="sldNum" sz="quarter" idx="12"/>
          </p:nvPr>
        </p:nvSpPr>
        <p:spPr/>
        <p:txBody>
          <a:bodyPr/>
          <a:lstStyle/>
          <a:p>
            <a:fld id="{17A5EBBD-7586-4CE4-B96B-D655D75B537A}" type="slidenum">
              <a:rPr lang="en-US" smtClean="0"/>
              <a:pPr/>
              <a:t>‹#›</a:t>
            </a:fld>
            <a:endParaRPr lang="en-US"/>
          </a:p>
        </p:txBody>
      </p:sp>
    </p:spTree>
    <p:extLst>
      <p:ext uri="{BB962C8B-B14F-4D97-AF65-F5344CB8AC3E}">
        <p14:creationId xmlns:p14="http://schemas.microsoft.com/office/powerpoint/2010/main" val="3492730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12F25B-BEAB-65A1-0C25-5A647D313105}"/>
              </a:ext>
            </a:extLst>
          </p:cNvPr>
          <p:cNvSpPr>
            <a:spLocks noGrp="1"/>
          </p:cNvSpPr>
          <p:nvPr>
            <p:ph type="dt" sz="half" idx="10"/>
          </p:nvPr>
        </p:nvSpPr>
        <p:spPr/>
        <p:txBody>
          <a:bodyPr/>
          <a:lstStyle/>
          <a:p>
            <a:fld id="{5F8AFDD1-794E-41D0-B15F-0FA4E5C69CFE}" type="datetimeFigureOut">
              <a:rPr lang="en-US" smtClean="0"/>
              <a:pPr/>
              <a:t>11/5/2025</a:t>
            </a:fld>
            <a:endParaRPr lang="en-US"/>
          </a:p>
        </p:txBody>
      </p:sp>
      <p:sp>
        <p:nvSpPr>
          <p:cNvPr id="3" name="Footer Placeholder 2">
            <a:extLst>
              <a:ext uri="{FF2B5EF4-FFF2-40B4-BE49-F238E27FC236}">
                <a16:creationId xmlns:a16="http://schemas.microsoft.com/office/drawing/2014/main" id="{E4DC5806-84EA-A4B0-6987-9FBD43D931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34E8A3-9627-3FDF-A4EA-E474EBFCA482}"/>
              </a:ext>
            </a:extLst>
          </p:cNvPr>
          <p:cNvSpPr>
            <a:spLocks noGrp="1"/>
          </p:cNvSpPr>
          <p:nvPr>
            <p:ph type="sldNum" sz="quarter" idx="12"/>
          </p:nvPr>
        </p:nvSpPr>
        <p:spPr/>
        <p:txBody>
          <a:bodyPr/>
          <a:lstStyle/>
          <a:p>
            <a:fld id="{17A5EBBD-7586-4CE4-B96B-D655D75B537A}" type="slidenum">
              <a:rPr lang="en-US" smtClean="0"/>
              <a:pPr/>
              <a:t>‹#›</a:t>
            </a:fld>
            <a:endParaRPr lang="en-US"/>
          </a:p>
        </p:txBody>
      </p:sp>
    </p:spTree>
    <p:extLst>
      <p:ext uri="{BB962C8B-B14F-4D97-AF65-F5344CB8AC3E}">
        <p14:creationId xmlns:p14="http://schemas.microsoft.com/office/powerpoint/2010/main" val="303314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5EFE6-7E8C-122B-235A-F919439967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49E551-B983-4C9A-074C-42EBBF6170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FA3BA1-C3AD-5CDC-F615-FCA9B8D1EA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6E3E21-5429-2919-3387-A3E0A91EEA31}"/>
              </a:ext>
            </a:extLst>
          </p:cNvPr>
          <p:cNvSpPr>
            <a:spLocks noGrp="1"/>
          </p:cNvSpPr>
          <p:nvPr>
            <p:ph type="dt" sz="half" idx="10"/>
          </p:nvPr>
        </p:nvSpPr>
        <p:spPr/>
        <p:txBody>
          <a:bodyPr/>
          <a:lstStyle/>
          <a:p>
            <a:fld id="{5F8AFDD1-794E-41D0-B15F-0FA4E5C69CFE}" type="datetimeFigureOut">
              <a:rPr lang="en-US" smtClean="0"/>
              <a:pPr/>
              <a:t>11/5/2025</a:t>
            </a:fld>
            <a:endParaRPr lang="en-US"/>
          </a:p>
        </p:txBody>
      </p:sp>
      <p:sp>
        <p:nvSpPr>
          <p:cNvPr id="6" name="Footer Placeholder 5">
            <a:extLst>
              <a:ext uri="{FF2B5EF4-FFF2-40B4-BE49-F238E27FC236}">
                <a16:creationId xmlns:a16="http://schemas.microsoft.com/office/drawing/2014/main" id="{97DB753F-BB4E-2E32-DC09-1D8802B0CE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645298-811A-D138-DBA3-7BB7E5BE2DC1}"/>
              </a:ext>
            </a:extLst>
          </p:cNvPr>
          <p:cNvSpPr>
            <a:spLocks noGrp="1"/>
          </p:cNvSpPr>
          <p:nvPr>
            <p:ph type="sldNum" sz="quarter" idx="12"/>
          </p:nvPr>
        </p:nvSpPr>
        <p:spPr/>
        <p:txBody>
          <a:bodyPr/>
          <a:lstStyle/>
          <a:p>
            <a:fld id="{17A5EBBD-7586-4CE4-B96B-D655D75B537A}" type="slidenum">
              <a:rPr lang="en-US" smtClean="0"/>
              <a:pPr/>
              <a:t>‹#›</a:t>
            </a:fld>
            <a:endParaRPr lang="en-US"/>
          </a:p>
        </p:txBody>
      </p:sp>
    </p:spTree>
    <p:extLst>
      <p:ext uri="{BB962C8B-B14F-4D97-AF65-F5344CB8AC3E}">
        <p14:creationId xmlns:p14="http://schemas.microsoft.com/office/powerpoint/2010/main" val="2851339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84706-B485-235C-E896-0915BD3DC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92E461-5CAB-6FB2-C593-48E6673487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E5D585-1DC0-D023-F741-0F4138B9E2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1918A0-7258-E160-256E-55F9EE1A222D}"/>
              </a:ext>
            </a:extLst>
          </p:cNvPr>
          <p:cNvSpPr>
            <a:spLocks noGrp="1"/>
          </p:cNvSpPr>
          <p:nvPr>
            <p:ph type="dt" sz="half" idx="10"/>
          </p:nvPr>
        </p:nvSpPr>
        <p:spPr/>
        <p:txBody>
          <a:bodyPr/>
          <a:lstStyle/>
          <a:p>
            <a:fld id="{5F8AFDD1-794E-41D0-B15F-0FA4E5C69CFE}" type="datetimeFigureOut">
              <a:rPr lang="en-US" smtClean="0"/>
              <a:pPr/>
              <a:t>11/5/2025</a:t>
            </a:fld>
            <a:endParaRPr lang="en-US"/>
          </a:p>
        </p:txBody>
      </p:sp>
      <p:sp>
        <p:nvSpPr>
          <p:cNvPr id="6" name="Footer Placeholder 5">
            <a:extLst>
              <a:ext uri="{FF2B5EF4-FFF2-40B4-BE49-F238E27FC236}">
                <a16:creationId xmlns:a16="http://schemas.microsoft.com/office/drawing/2014/main" id="{F76073E9-0DE9-318A-98D7-5BAFA7D081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FC0FA-ADAD-C050-4C83-3F1A483C3622}"/>
              </a:ext>
            </a:extLst>
          </p:cNvPr>
          <p:cNvSpPr>
            <a:spLocks noGrp="1"/>
          </p:cNvSpPr>
          <p:nvPr>
            <p:ph type="sldNum" sz="quarter" idx="12"/>
          </p:nvPr>
        </p:nvSpPr>
        <p:spPr/>
        <p:txBody>
          <a:bodyPr/>
          <a:lstStyle/>
          <a:p>
            <a:fld id="{17A5EBBD-7586-4CE4-B96B-D655D75B537A}" type="slidenum">
              <a:rPr lang="en-US" smtClean="0"/>
              <a:pPr/>
              <a:t>‹#›</a:t>
            </a:fld>
            <a:endParaRPr lang="en-US"/>
          </a:p>
        </p:txBody>
      </p:sp>
    </p:spTree>
    <p:extLst>
      <p:ext uri="{BB962C8B-B14F-4D97-AF65-F5344CB8AC3E}">
        <p14:creationId xmlns:p14="http://schemas.microsoft.com/office/powerpoint/2010/main" val="795232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0CDA4-4D01-66BC-F93D-10F6ED393F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A35E0A-02BC-1A92-16C9-E7F0C793C6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84023B-954D-9959-1A73-9B3193BA4DC0}"/>
              </a:ext>
            </a:extLst>
          </p:cNvPr>
          <p:cNvSpPr>
            <a:spLocks noGrp="1"/>
          </p:cNvSpPr>
          <p:nvPr>
            <p:ph type="dt" sz="half" idx="10"/>
          </p:nvPr>
        </p:nvSpPr>
        <p:spPr/>
        <p:txBody>
          <a:bodyPr/>
          <a:lstStyle/>
          <a:p>
            <a:fld id="{5F8AFDD1-794E-41D0-B15F-0FA4E5C69CFE}" type="datetimeFigureOut">
              <a:rPr lang="en-US" smtClean="0"/>
              <a:pPr/>
              <a:t>11/5/2025</a:t>
            </a:fld>
            <a:endParaRPr lang="en-US"/>
          </a:p>
        </p:txBody>
      </p:sp>
      <p:sp>
        <p:nvSpPr>
          <p:cNvPr id="5" name="Footer Placeholder 4">
            <a:extLst>
              <a:ext uri="{FF2B5EF4-FFF2-40B4-BE49-F238E27FC236}">
                <a16:creationId xmlns:a16="http://schemas.microsoft.com/office/drawing/2014/main" id="{8E5C2A41-3E1E-EF9F-6D8C-3B14A1181F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E2476F-78CE-FF7B-93E0-73482989E739}"/>
              </a:ext>
            </a:extLst>
          </p:cNvPr>
          <p:cNvSpPr>
            <a:spLocks noGrp="1"/>
          </p:cNvSpPr>
          <p:nvPr>
            <p:ph type="sldNum" sz="quarter" idx="12"/>
          </p:nvPr>
        </p:nvSpPr>
        <p:spPr/>
        <p:txBody>
          <a:bodyPr/>
          <a:lstStyle/>
          <a:p>
            <a:fld id="{17A5EBBD-7586-4CE4-B96B-D655D75B537A}" type="slidenum">
              <a:rPr lang="en-US" smtClean="0"/>
              <a:pPr/>
              <a:t>‹#›</a:t>
            </a:fld>
            <a:endParaRPr lang="en-US"/>
          </a:p>
        </p:txBody>
      </p:sp>
    </p:spTree>
    <p:extLst>
      <p:ext uri="{BB962C8B-B14F-4D97-AF65-F5344CB8AC3E}">
        <p14:creationId xmlns:p14="http://schemas.microsoft.com/office/powerpoint/2010/main" val="643942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05F83B-B164-234F-CFAB-BC903C9591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EC6382-46F0-8A65-C599-73AAC38DD7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08EF71-0B23-9714-05ED-A85B59C0D8BB}"/>
              </a:ext>
            </a:extLst>
          </p:cNvPr>
          <p:cNvSpPr>
            <a:spLocks noGrp="1"/>
          </p:cNvSpPr>
          <p:nvPr>
            <p:ph type="dt" sz="half" idx="10"/>
          </p:nvPr>
        </p:nvSpPr>
        <p:spPr/>
        <p:txBody>
          <a:bodyPr/>
          <a:lstStyle/>
          <a:p>
            <a:fld id="{5F8AFDD1-794E-41D0-B15F-0FA4E5C69CFE}" type="datetimeFigureOut">
              <a:rPr lang="en-US" smtClean="0"/>
              <a:pPr/>
              <a:t>11/5/2025</a:t>
            </a:fld>
            <a:endParaRPr lang="en-US"/>
          </a:p>
        </p:txBody>
      </p:sp>
      <p:sp>
        <p:nvSpPr>
          <p:cNvPr id="5" name="Footer Placeholder 4">
            <a:extLst>
              <a:ext uri="{FF2B5EF4-FFF2-40B4-BE49-F238E27FC236}">
                <a16:creationId xmlns:a16="http://schemas.microsoft.com/office/drawing/2014/main" id="{9400D671-E9B2-4A00-8C70-31220658D8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AF33FA-6842-C64D-85E4-E3098C3E61D5}"/>
              </a:ext>
            </a:extLst>
          </p:cNvPr>
          <p:cNvSpPr>
            <a:spLocks noGrp="1"/>
          </p:cNvSpPr>
          <p:nvPr>
            <p:ph type="sldNum" sz="quarter" idx="12"/>
          </p:nvPr>
        </p:nvSpPr>
        <p:spPr/>
        <p:txBody>
          <a:bodyPr/>
          <a:lstStyle/>
          <a:p>
            <a:fld id="{17A5EBBD-7586-4CE4-B96B-D655D75B537A}" type="slidenum">
              <a:rPr lang="en-US" smtClean="0"/>
              <a:pPr/>
              <a:t>‹#›</a:t>
            </a:fld>
            <a:endParaRPr lang="en-US"/>
          </a:p>
        </p:txBody>
      </p:sp>
    </p:spTree>
    <p:extLst>
      <p:ext uri="{BB962C8B-B14F-4D97-AF65-F5344CB8AC3E}">
        <p14:creationId xmlns:p14="http://schemas.microsoft.com/office/powerpoint/2010/main" val="3515020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5C4F7C-5582-51DC-D7FE-F546891678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2779EC-99B1-FF10-EE44-DA2B4B8732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1F2C6E-28D5-4117-9EF8-D047F073D5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8AFDD1-794E-41D0-B15F-0FA4E5C69CFE}" type="datetimeFigureOut">
              <a:rPr lang="en-US" smtClean="0"/>
              <a:pPr/>
              <a:t>11/5/2025</a:t>
            </a:fld>
            <a:endParaRPr lang="en-US"/>
          </a:p>
        </p:txBody>
      </p:sp>
      <p:sp>
        <p:nvSpPr>
          <p:cNvPr id="5" name="Footer Placeholder 4">
            <a:extLst>
              <a:ext uri="{FF2B5EF4-FFF2-40B4-BE49-F238E27FC236}">
                <a16:creationId xmlns:a16="http://schemas.microsoft.com/office/drawing/2014/main" id="{97CA5987-F69C-D248-72A4-73716770AB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5554D6B-78F7-D555-5DBF-C733C76795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A5EBBD-7586-4CE4-B96B-D655D75B537A}" type="slidenum">
              <a:rPr lang="en-US" smtClean="0"/>
              <a:pPr/>
              <a:t>‹#›</a:t>
            </a:fld>
            <a:endParaRPr lang="en-US"/>
          </a:p>
        </p:txBody>
      </p:sp>
    </p:spTree>
    <p:extLst>
      <p:ext uri="{BB962C8B-B14F-4D97-AF65-F5344CB8AC3E}">
        <p14:creationId xmlns:p14="http://schemas.microsoft.com/office/powerpoint/2010/main" val="29594677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kaggle.com/competitions/severstal-steel-defect-detection/data"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6D55B79-F7C3-8646-DCBC-6290143EDEDF}"/>
              </a:ext>
            </a:extLst>
          </p:cNvPr>
          <p:cNvSpPr>
            <a:spLocks noGrp="1"/>
          </p:cNvSpPr>
          <p:nvPr>
            <p:ph type="subTitle" idx="1"/>
          </p:nvPr>
        </p:nvSpPr>
        <p:spPr>
          <a:xfrm>
            <a:off x="521110" y="1820666"/>
            <a:ext cx="10436156" cy="4700237"/>
          </a:xfrm>
        </p:spPr>
        <p:txBody>
          <a:bodyPr vert="horz" lIns="91440" tIns="45720" rIns="91440" bIns="45720" rtlCol="0" anchor="t">
            <a:normAutofit fontScale="70000" lnSpcReduction="20000"/>
          </a:bodyPr>
          <a:lstStyle/>
          <a:p>
            <a:pPr>
              <a:lnSpc>
                <a:spcPct val="120000"/>
              </a:lnSpc>
            </a:pPr>
            <a:r>
              <a:rPr lang="en-US" sz="2800" b="1" dirty="0">
                <a:latin typeface="Times New Roman" panose="02020603050405020304" pitchFamily="18" charset="0"/>
                <a:cs typeface="Times New Roman" panose="02020603050405020304" pitchFamily="18" charset="0"/>
              </a:rPr>
              <a:t>DEPARTMENT OF ARTIFICIAL INTELLIGENCE AND MACHINE LEARNING</a:t>
            </a:r>
          </a:p>
          <a:p>
            <a:pPr>
              <a:lnSpc>
                <a:spcPct val="120000"/>
              </a:lnSpc>
            </a:pPr>
            <a:endParaRPr lang="en-US" b="1" dirty="0">
              <a:latin typeface="Times New Roman" panose="02020603050405020304" pitchFamily="18" charset="0"/>
              <a:cs typeface="Times New Roman" panose="02020603050405020304" pitchFamily="18" charset="0"/>
            </a:endParaRPr>
          </a:p>
          <a:p>
            <a:pPr algn="ctr">
              <a:lnSpc>
                <a:spcPct val="120000"/>
              </a:lnSpc>
              <a:spcBef>
                <a:spcPts val="780"/>
              </a:spcBef>
              <a:buNone/>
            </a:pPr>
            <a:r>
              <a:rPr lang="en-US" b="1" dirty="0">
                <a:latin typeface="Times New Roman" panose="02020603050405020304" pitchFamily="18" charset="0"/>
                <a:cs typeface="Times New Roman" panose="02020603050405020304" pitchFamily="18" charset="0"/>
              </a:rPr>
              <a:t>TITLE:</a:t>
            </a:r>
            <a:r>
              <a:rPr lang="en-US" sz="2400" b="1" dirty="0">
                <a:effectLst/>
                <a:latin typeface="Times New Roman" panose="02020603050405020304" pitchFamily="18" charset="0"/>
                <a:ea typeface="Times New Roman" panose="02020603050405020304" pitchFamily="18" charset="0"/>
              </a:rPr>
              <a:t>IMPLEMENTATION OF AN INTELLIGENT VISION TRANSFORMER-BASED DEEP LEARNING MODEL FOR FEEDSTOCK QUALITY ASSESSMENT AND DEFECT DETECTION IN INDUSTRY 4.0 PRODUCTION SYSTEMS</a:t>
            </a:r>
            <a:endParaRPr lang="en-IN" sz="1600" dirty="0">
              <a:effectLst/>
              <a:latin typeface="Times New Roman" panose="02020603050405020304" pitchFamily="18" charset="0"/>
              <a:ea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sz="2300" b="1" dirty="0">
                <a:latin typeface="Times New Roman" panose="02020603050405020304" pitchFamily="18" charset="0"/>
                <a:cs typeface="Times New Roman" panose="02020603050405020304" pitchFamily="18" charset="0"/>
              </a:rPr>
              <a:t>BATCH NO: 10</a:t>
            </a:r>
          </a:p>
          <a:p>
            <a:pPr marL="0" indent="0" algn="just">
              <a:lnSpc>
                <a:spcPct val="100000"/>
              </a:lnSpc>
              <a:buNone/>
            </a:pPr>
            <a:endParaRPr lang="en-US" sz="2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0000"/>
              </a:lnSpc>
              <a:buNone/>
            </a:pPr>
            <a:r>
              <a:rPr lang="en-US" b="1" dirty="0">
                <a:effectLst/>
                <a:latin typeface="Times New Roman" panose="02020603050405020304" pitchFamily="18" charset="0"/>
                <a:ea typeface="Calibri"/>
                <a:cs typeface="Times New Roman" panose="02020603050405020304" pitchFamily="18" charset="0"/>
              </a:rPr>
              <a:t>	TEAM MEMBERS:                                                              	 	PROJECT GUIDE:</a:t>
            </a:r>
          </a:p>
          <a:p>
            <a:pPr marL="1257300" lvl="2" indent="-342900" algn="l">
              <a:lnSpc>
                <a:spcPct val="1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 ADHARSSH KUMAR [23TN0016] 	                                                                   Mrs. S. BALAJI</a:t>
            </a:r>
          </a:p>
          <a:p>
            <a:pPr marL="1257300" lvl="2" indent="-342900" algn="l">
              <a:lnSpc>
                <a:spcPct val="1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PRASNAN B [23TN0063]                                                                            	      	AP/AIML</a:t>
            </a:r>
          </a:p>
          <a:p>
            <a:pPr marL="1257300" lvl="2" indent="-342900" algn="l">
              <a:lnSpc>
                <a:spcPct val="1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JAI AKASH S [23TN0036] </a:t>
            </a:r>
          </a:p>
          <a:p>
            <a:pPr marL="1257300" lvl="2" indent="-342900" algn="l">
              <a:lnSpc>
                <a:spcPct val="1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SHAIK ROSHITH A [23TN0001] </a:t>
            </a:r>
          </a:p>
          <a:p>
            <a:pPr marL="0" indent="0" algn="l">
              <a:lnSpc>
                <a:spcPct val="100000"/>
              </a:lnSpc>
              <a:buNone/>
            </a:pPr>
            <a:endParaRPr lang="en-US" b="1" dirty="0">
              <a:latin typeface="Times New Roman" panose="02020603050405020304" pitchFamily="18" charset="0"/>
              <a:cs typeface="Times New Roman" panose="02020603050405020304" pitchFamily="18" charset="0"/>
            </a:endParaRPr>
          </a:p>
          <a:p>
            <a:pPr marL="0" indent="0" algn="r">
              <a:lnSpc>
                <a:spcPct val="100000"/>
              </a:lnSpc>
              <a:buNone/>
            </a:pPr>
            <a:r>
              <a:rPr lang="en-US" b="1" dirty="0">
                <a:latin typeface="Times New Roman" panose="02020603050405020304" pitchFamily="18" charset="0"/>
                <a:ea typeface="Calibri"/>
                <a:cs typeface="Times New Roman" panose="02020603050405020304" pitchFamily="18" charset="0"/>
              </a:rPr>
              <a:t>								</a:t>
            </a:r>
            <a:endParaRPr lang="en-US" sz="2200" b="1" kern="0" dirty="0">
              <a:latin typeface="Times New Roman" panose="02020603050405020304" pitchFamily="18" charset="0"/>
              <a:ea typeface="Calibri"/>
              <a:cs typeface="Times New Roman" panose="02020603050405020304" pitchFamily="18" charset="0"/>
            </a:endParaRPr>
          </a:p>
          <a:p>
            <a:pPr marL="0" indent="0" algn="just">
              <a:lnSpc>
                <a:spcPct val="100000"/>
              </a:lnSpc>
              <a:buNone/>
            </a:pPr>
            <a:endParaRPr lang="en-US" b="1" dirty="0">
              <a:latin typeface="Times New Roman" panose="02020603050405020304" pitchFamily="18" charset="0"/>
              <a:cs typeface="Times New Roman" panose="02020603050405020304" pitchFamily="18" charset="0"/>
            </a:endParaRPr>
          </a:p>
        </p:txBody>
      </p:sp>
      <p:pic>
        <p:nvPicPr>
          <p:cNvPr id="2" name="Picture 1" descr="C:\Users\AIML\Downloads\WhatsApp Image 2025-06-17 at 1.14.51 PM.jpeg">
            <a:extLst>
              <a:ext uri="{FF2B5EF4-FFF2-40B4-BE49-F238E27FC236}">
                <a16:creationId xmlns:a16="http://schemas.microsoft.com/office/drawing/2014/main" id="{5F93F890-3D64-71C4-D7CF-100FF792EE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110" y="195942"/>
            <a:ext cx="11012129" cy="1328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6103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BE8F42-DE8D-FCB2-5C80-19D475EBC7C5}"/>
              </a:ext>
            </a:extLst>
          </p:cNvPr>
          <p:cNvSpPr>
            <a:spLocks noGrp="1"/>
          </p:cNvSpPr>
          <p:nvPr>
            <p:ph idx="1"/>
          </p:nvPr>
        </p:nvSpPr>
        <p:spPr>
          <a:xfrm>
            <a:off x="576416" y="1690688"/>
            <a:ext cx="11039168" cy="5152877"/>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An intelligent Vision Transformer-based model automatically analyzes feedstock images to assess quality and detect defects with high precision. It enables real-time, contactless, and consistent inspection across production lines, enhancing efficiency and scalability in Industry 4.0 environments.</a:t>
            </a:r>
          </a:p>
        </p:txBody>
      </p:sp>
      <p:sp>
        <p:nvSpPr>
          <p:cNvPr id="5" name="Title 4">
            <a:extLst>
              <a:ext uri="{FF2B5EF4-FFF2-40B4-BE49-F238E27FC236}">
                <a16:creationId xmlns:a16="http://schemas.microsoft.com/office/drawing/2014/main" id="{599CF367-AD43-59FF-4BA1-F0DAA818649C}"/>
              </a:ext>
            </a:extLst>
          </p:cNvPr>
          <p:cNvSpPr>
            <a:spLocks noGrp="1"/>
          </p:cNvSpPr>
          <p:nvPr>
            <p:ph type="title"/>
          </p:nvPr>
        </p:nvSpPr>
        <p:spPr>
          <a:xfrm>
            <a:off x="462116" y="365125"/>
            <a:ext cx="10891684" cy="1325563"/>
          </a:xfrm>
        </p:spPr>
        <p:txBody>
          <a:bodyPr>
            <a:normAutofit/>
          </a:bodyPr>
          <a:lstStyle/>
          <a:p>
            <a:r>
              <a:rPr lang="en-IN" sz="4000" b="1" u="sng" dirty="0">
                <a:latin typeface="Times New Roman" panose="02020603050405020304" pitchFamily="18" charset="0"/>
                <a:cs typeface="Times New Roman" panose="02020603050405020304" pitchFamily="18" charset="0"/>
              </a:rPr>
              <a:t> OBJECTIVE:</a:t>
            </a:r>
            <a:br>
              <a:rPr lang="en-IN" sz="4000" b="1" u="sng" dirty="0">
                <a:latin typeface="Times New Roman" panose="02020603050405020304" pitchFamily="18" charset="0"/>
                <a:cs typeface="Times New Roman" panose="02020603050405020304" pitchFamily="18" charset="0"/>
              </a:rPr>
            </a:br>
            <a:endParaRPr lang="en-IN" sz="40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865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10555-F008-8D12-44FF-75C8B878F290}"/>
              </a:ext>
            </a:extLst>
          </p:cNvPr>
          <p:cNvSpPr>
            <a:spLocks noGrp="1"/>
          </p:cNvSpPr>
          <p:nvPr>
            <p:ph type="title"/>
          </p:nvPr>
        </p:nvSpPr>
        <p:spPr>
          <a:xfrm>
            <a:off x="472440" y="164828"/>
            <a:ext cx="10515600" cy="1325563"/>
          </a:xfrm>
        </p:spPr>
        <p:txBody>
          <a:bodyPr>
            <a:normAutofit/>
          </a:bodyPr>
          <a:lstStyle/>
          <a:p>
            <a:r>
              <a:rPr lang="en-US" sz="4000" b="1" u="sng" dirty="0">
                <a:latin typeface="Times New Roman" panose="02020603050405020304" pitchFamily="18" charset="0"/>
                <a:cs typeface="Times New Roman" panose="02020603050405020304" pitchFamily="18" charset="0"/>
              </a:rPr>
              <a:t>PROBLEM STATEMENT</a:t>
            </a:r>
            <a:r>
              <a:rPr lang="en-US" sz="3600" b="1" u="sng" dirty="0">
                <a:latin typeface="Times New Roman" panose="02020603050405020304" pitchFamily="18" charset="0"/>
                <a:cs typeface="Times New Roman" panose="02020603050405020304" pitchFamily="18" charset="0"/>
              </a:rPr>
              <a:t>:</a:t>
            </a:r>
            <a:endParaRPr lang="en-IN" sz="36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C3D82CB-ECC3-2F1E-C40D-127A0894E7EE}"/>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Traditional feedstock inspection methods rely heavily on manual observation and sensor-based testing, leading to inconsistency, slow processing, and human error. There is a need for an automated, contactless, and intelligent system capable of accurately detecting defects and predicting material quality in real time for Industry 4.0 production environments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7398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767" y="185825"/>
            <a:ext cx="10236447" cy="1325563"/>
          </a:xfrm>
        </p:spPr>
        <p:txBody>
          <a:bodyPr>
            <a:normAutofit/>
          </a:bodyPr>
          <a:lstStyle/>
          <a:p>
            <a:r>
              <a:rPr lang="en-IN" sz="4000" b="1" u="sng" dirty="0">
                <a:latin typeface="Times New Roman" panose="02020603050405020304" pitchFamily="18" charset="0"/>
                <a:cs typeface="Times New Roman" panose="02020603050405020304" pitchFamily="18" charset="0"/>
              </a:rPr>
              <a:t> INTRODUCTION:</a:t>
            </a:r>
          </a:p>
        </p:txBody>
      </p:sp>
      <p:sp>
        <p:nvSpPr>
          <p:cNvPr id="4" name="Rectangle 1">
            <a:extLst>
              <a:ext uri="{FF2B5EF4-FFF2-40B4-BE49-F238E27FC236}">
                <a16:creationId xmlns:a16="http://schemas.microsoft.com/office/drawing/2014/main" id="{874C0588-F329-8183-072A-34FF3344B308}"/>
              </a:ext>
            </a:extLst>
          </p:cNvPr>
          <p:cNvSpPr>
            <a:spLocks noGrp="1" noChangeArrowheads="1"/>
          </p:cNvSpPr>
          <p:nvPr>
            <p:ph idx="1"/>
          </p:nvPr>
        </p:nvSpPr>
        <p:spPr bwMode="auto">
          <a:xfrm>
            <a:off x="599767" y="1511388"/>
            <a:ext cx="11276664"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dirty="0">
                <a:latin typeface="Times New Roman" panose="02020603050405020304" pitchFamily="18" charset="0"/>
                <a:cs typeface="Times New Roman" panose="02020603050405020304" pitchFamily="18" charset="0"/>
              </a:rPr>
              <a:t>• Uses AI and Vision Transformers to assess raw material quality.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Works without manual inspection or physical sensors.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Provides real-time defect detection and grading.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Ensures consistency and reliability in production lines.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Requires only a camera setup and trained model.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Can be deployed on industrial systems or edge devices for automated quality monitoring.</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539AE-4BC7-6F85-18DD-0C8B62148E47}"/>
              </a:ext>
            </a:extLst>
          </p:cNvPr>
          <p:cNvSpPr>
            <a:spLocks noGrp="1"/>
          </p:cNvSpPr>
          <p:nvPr>
            <p:ph type="title"/>
          </p:nvPr>
        </p:nvSpPr>
        <p:spPr>
          <a:xfrm>
            <a:off x="498565" y="119776"/>
            <a:ext cx="10515600" cy="1325563"/>
          </a:xfrm>
        </p:spPr>
        <p:txBody>
          <a:bodyPr>
            <a:normAutofit/>
          </a:bodyPr>
          <a:lstStyle/>
          <a:p>
            <a:r>
              <a:rPr lang="en-IN" sz="4000" b="1" u="sng" dirty="0">
                <a:latin typeface="Times New Roman" panose="02020603050405020304" pitchFamily="18" charset="0"/>
                <a:cs typeface="Times New Roman" panose="02020603050405020304" pitchFamily="18" charset="0"/>
              </a:rPr>
              <a:t>Domain and Sub-Domain:</a:t>
            </a:r>
          </a:p>
        </p:txBody>
      </p:sp>
      <p:sp>
        <p:nvSpPr>
          <p:cNvPr id="4" name="Rectangle 1">
            <a:extLst>
              <a:ext uri="{FF2B5EF4-FFF2-40B4-BE49-F238E27FC236}">
                <a16:creationId xmlns:a16="http://schemas.microsoft.com/office/drawing/2014/main" id="{592299AA-E2E2-79F4-BC0E-DC46ECB5C029}"/>
              </a:ext>
            </a:extLst>
          </p:cNvPr>
          <p:cNvSpPr>
            <a:spLocks noGrp="1" noChangeArrowheads="1"/>
          </p:cNvSpPr>
          <p:nvPr>
            <p:ph idx="1"/>
          </p:nvPr>
        </p:nvSpPr>
        <p:spPr bwMode="auto">
          <a:xfrm>
            <a:off x="732666" y="1364304"/>
            <a:ext cx="10726668"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b="1" dirty="0">
                <a:latin typeface="Times New Roman" panose="02020603050405020304" pitchFamily="18" charset="0"/>
                <a:cs typeface="Times New Roman" panose="02020603050405020304" pitchFamily="18" charset="0"/>
              </a:rPr>
              <a:t>Domain:</a:t>
            </a:r>
            <a:r>
              <a:rPr lang="en-US" dirty="0">
                <a:latin typeface="Times New Roman" panose="02020603050405020304" pitchFamily="18" charset="0"/>
                <a:cs typeface="Times New Roman" panose="02020603050405020304" pitchFamily="18" charset="0"/>
              </a:rPr>
              <a:t> </a:t>
            </a:r>
          </a:p>
          <a:p>
            <a:pPr eaLnBrk="0" fontAlgn="base" hangingPunct="0">
              <a:lnSpc>
                <a:spcPct val="100000"/>
              </a:lnSpc>
              <a:spcBef>
                <a:spcPct val="0"/>
              </a:spcBef>
              <a:spcAft>
                <a:spcPct val="0"/>
              </a:spcAft>
            </a:pPr>
            <a:r>
              <a:rPr lang="en-US" dirty="0">
                <a:latin typeface="Times New Roman" panose="02020603050405020304" pitchFamily="18" charset="0"/>
                <a:cs typeface="Times New Roman" panose="02020603050405020304" pitchFamily="18" charset="0"/>
              </a:rPr>
              <a:t>Artificial Intelligence and Computer Vision</a:t>
            </a:r>
          </a:p>
          <a:p>
            <a:pPr marL="0" indent="0" eaLnBrk="0" fontAlgn="base" hangingPunct="0">
              <a:lnSpc>
                <a:spcPct val="100000"/>
              </a:lnSpc>
              <a:spcBef>
                <a:spcPct val="0"/>
              </a:spcBef>
              <a:spcAft>
                <a:spcPct val="0"/>
              </a:spcAft>
              <a:buNone/>
            </a:pPr>
            <a:r>
              <a:rPr lang="en-US" b="1" dirty="0">
                <a:latin typeface="Times New Roman" panose="02020603050405020304" pitchFamily="18" charset="0"/>
                <a:cs typeface="Times New Roman" panose="02020603050405020304" pitchFamily="18" charset="0"/>
              </a:rPr>
              <a:t>Sub-Domain:</a:t>
            </a:r>
            <a:r>
              <a:rPr lang="en-US" dirty="0">
                <a:latin typeface="Times New Roman" panose="02020603050405020304" pitchFamily="18" charset="0"/>
                <a:cs typeface="Times New Roman" panose="02020603050405020304" pitchFamily="18" charset="0"/>
              </a:rPr>
              <a:t> </a:t>
            </a:r>
          </a:p>
          <a:p>
            <a:pPr eaLnBrk="0" fontAlgn="base" hangingPunct="0">
              <a:lnSpc>
                <a:spcPct val="100000"/>
              </a:lnSpc>
              <a:spcBef>
                <a:spcPct val="0"/>
              </a:spcBef>
              <a:spcAft>
                <a:spcPct val="0"/>
              </a:spcAft>
            </a:pPr>
            <a:r>
              <a:rPr lang="en-US" dirty="0">
                <a:latin typeface="Times New Roman" panose="02020603050405020304" pitchFamily="18" charset="0"/>
                <a:cs typeface="Times New Roman" panose="02020603050405020304" pitchFamily="18" charset="0"/>
              </a:rPr>
              <a:t>Deep Learning–based Visual Inspection and Quality Prediction</a:t>
            </a:r>
          </a:p>
          <a:p>
            <a:pPr marL="0" indent="0" eaLnBrk="0" fontAlgn="base" hangingPunct="0">
              <a:lnSpc>
                <a:spcPct val="100000"/>
              </a:lnSpc>
              <a:spcBef>
                <a:spcPct val="0"/>
              </a:spcBef>
              <a:spcAft>
                <a:spcPct val="0"/>
              </a:spcAf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Application Area:</a:t>
            </a:r>
            <a:r>
              <a:rPr lang="en-US" dirty="0">
                <a:latin typeface="Times New Roman" panose="02020603050405020304" pitchFamily="18" charset="0"/>
                <a:cs typeface="Times New Roman" panose="02020603050405020304" pitchFamily="18" charset="0"/>
              </a:rPr>
              <a:t> Smart Manufacturing and Industrial Automation (Industry 4.0)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Technology Used:</a:t>
            </a:r>
            <a:r>
              <a:rPr lang="en-US" dirty="0">
                <a:latin typeface="Times New Roman" panose="02020603050405020304" pitchFamily="18" charset="0"/>
                <a:cs typeface="Times New Roman" panose="02020603050405020304" pitchFamily="18" charset="0"/>
              </a:rPr>
              <a:t> Vision Transformer (ViT), OpenCV, and Image Processing Techniques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Focus:</a:t>
            </a:r>
            <a:r>
              <a:rPr lang="en-US" dirty="0">
                <a:latin typeface="Times New Roman" panose="02020603050405020304" pitchFamily="18" charset="0"/>
                <a:cs typeface="Times New Roman" panose="02020603050405020304" pitchFamily="18" charset="0"/>
              </a:rPr>
              <a:t> Automated Detection of Surface Defects and Feedstock Quality Assessment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Objective:</a:t>
            </a:r>
            <a:r>
              <a:rPr lang="en-US" dirty="0">
                <a:latin typeface="Times New Roman" panose="02020603050405020304" pitchFamily="18" charset="0"/>
                <a:cs typeface="Times New Roman" panose="02020603050405020304" pitchFamily="18" charset="0"/>
              </a:rPr>
              <a:t> To develop a contactless, real-time, and intelligent system for accurate material quality evaluation and defect identification.</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1307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1644"/>
            <a:ext cx="10515600" cy="1607735"/>
          </a:xfrm>
        </p:spPr>
        <p:txBody>
          <a:bodyPr/>
          <a:lstStyle/>
          <a:p>
            <a:r>
              <a:rPr lang="en-US" sz="4000" b="1" u="sng" dirty="0">
                <a:latin typeface="Times New Roman" pitchFamily="18" charset="0"/>
                <a:cs typeface="Times New Roman" pitchFamily="18" charset="0"/>
              </a:rPr>
              <a:t>EXISTING SYSTEM:</a:t>
            </a:r>
            <a:br>
              <a:rPr lang="en-US"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838200" y="1398925"/>
            <a:ext cx="10515600" cy="5117431"/>
          </a:xfrm>
        </p:spPr>
        <p:txBody>
          <a:bodyPr>
            <a:normAutofit/>
          </a:bodyPr>
          <a:lstStyle/>
          <a:p>
            <a:pPr marL="0" indent="0">
              <a:lnSpc>
                <a:spcPct val="100000"/>
              </a:lnSpc>
              <a:buNone/>
            </a:pPr>
            <a:r>
              <a:rPr lang="en-US" dirty="0">
                <a:latin typeface="Times New Roman" panose="02020603050405020304" pitchFamily="18" charset="0"/>
                <a:cs typeface="Times New Roman" panose="02020603050405020304" pitchFamily="18" charset="0"/>
              </a:rPr>
              <a:t>• Existing systems use </a:t>
            </a:r>
            <a:r>
              <a:rPr lang="en-US" b="1" dirty="0">
                <a:latin typeface="Times New Roman" panose="02020603050405020304" pitchFamily="18" charset="0"/>
                <a:cs typeface="Times New Roman" panose="02020603050405020304" pitchFamily="18" charset="0"/>
              </a:rPr>
              <a:t>Convolutional Neural Networks (CNNs)</a:t>
            </a:r>
            <a:r>
              <a:rPr lang="en-US" dirty="0">
                <a:latin typeface="Times New Roman" panose="02020603050405020304" pitchFamily="18" charset="0"/>
                <a:cs typeface="Times New Roman" panose="02020603050405020304" pitchFamily="18" charset="0"/>
              </a:rPr>
              <a:t> and image processing techniques to inspect feedstock surfaces and detect visible defects.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These systems analyze texture, shape, and color variations to classify material quality into predefined categories.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Operate in real time but often require frequent calibration and human supervision to maintain accuracy.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Performance can be affected by lighting changes, shadows, and reflective surfaces during inspection.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While effective for basic detection, they lack adaptability and deep contextual understanding needed for complex industrial environments.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AFEB9-8BA3-8E56-2563-9D5089C86B00}"/>
              </a:ext>
            </a:extLst>
          </p:cNvPr>
          <p:cNvSpPr>
            <a:spLocks noGrp="1"/>
          </p:cNvSpPr>
          <p:nvPr>
            <p:ph type="title"/>
          </p:nvPr>
        </p:nvSpPr>
        <p:spPr>
          <a:xfrm>
            <a:off x="402771" y="18255"/>
            <a:ext cx="10515600" cy="1325563"/>
          </a:xfrm>
        </p:spPr>
        <p:txBody>
          <a:bodyPr>
            <a:normAutofit/>
          </a:bodyPr>
          <a:lstStyle/>
          <a:p>
            <a:r>
              <a:rPr lang="en-US" sz="4000" b="1" u="sng" dirty="0">
                <a:latin typeface="Times New Roman" panose="02020603050405020304" pitchFamily="18" charset="0"/>
                <a:cs typeface="Times New Roman" panose="02020603050405020304" pitchFamily="18" charset="0"/>
              </a:rPr>
              <a:t>EXISTING EXPLANATION:</a:t>
            </a:r>
            <a:endParaRPr lang="en-IN" sz="40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AD576F6-C94A-1FC3-5212-7B1945017C93}"/>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The existing feedstock inspection systems primarily rely on </a:t>
            </a:r>
            <a:r>
              <a:rPr lang="en-US" b="1" dirty="0">
                <a:latin typeface="Times New Roman" panose="02020603050405020304" pitchFamily="18" charset="0"/>
                <a:cs typeface="Times New Roman" panose="02020603050405020304" pitchFamily="18" charset="0"/>
              </a:rPr>
              <a:t>traditional image processing</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Convolutional Neural Network (CNN)</a:t>
            </a:r>
            <a:r>
              <a:rPr lang="en-US" dirty="0">
                <a:latin typeface="Times New Roman" panose="02020603050405020304" pitchFamily="18" charset="0"/>
                <a:cs typeface="Times New Roman" panose="02020603050405020304" pitchFamily="18" charset="0"/>
              </a:rPr>
              <a:t> techniques to identify surface defects and assess material quality. These systems capture images using industrial cameras and analyze visual patterns such as color, texture, and shape to detect irregularities. Although they can perform basic defect identification in real time, their accuracy is limited under poor lighting, motion, or reflective conditions. Additionally, they require </a:t>
            </a:r>
            <a:r>
              <a:rPr lang="en-US" b="1" dirty="0">
                <a:latin typeface="Times New Roman" panose="02020603050405020304" pitchFamily="18" charset="0"/>
                <a:cs typeface="Times New Roman" panose="02020603050405020304" pitchFamily="18" charset="0"/>
              </a:rPr>
              <a:t>manual calibration and human intervention</a:t>
            </a:r>
            <a:r>
              <a:rPr lang="en-US" dirty="0">
                <a:latin typeface="Times New Roman" panose="02020603050405020304" pitchFamily="18" charset="0"/>
                <a:cs typeface="Times New Roman" panose="02020603050405020304" pitchFamily="18" charset="0"/>
              </a:rPr>
              <a:t>, making them less reliable and inefficient for large-scale, automated industrial environments</a:t>
            </a:r>
            <a:r>
              <a:rPr lang="en-US" dirty="0"/>
              <a:t>.</a:t>
            </a:r>
            <a:endParaRPr lang="en-IN" dirty="0"/>
          </a:p>
        </p:txBody>
      </p:sp>
    </p:spTree>
    <p:extLst>
      <p:ext uri="{BB962C8B-B14F-4D97-AF65-F5344CB8AC3E}">
        <p14:creationId xmlns:p14="http://schemas.microsoft.com/office/powerpoint/2010/main" val="3532209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DCE08-C24E-5C1A-7DCC-D4694CC1543E}"/>
              </a:ext>
            </a:extLst>
          </p:cNvPr>
          <p:cNvSpPr>
            <a:spLocks noGrp="1"/>
          </p:cNvSpPr>
          <p:nvPr>
            <p:ph type="title"/>
          </p:nvPr>
        </p:nvSpPr>
        <p:spPr>
          <a:xfrm>
            <a:off x="385354" y="147411"/>
            <a:ext cx="10515600" cy="1325563"/>
          </a:xfrm>
        </p:spPr>
        <p:txBody>
          <a:bodyPr>
            <a:normAutofit/>
          </a:bodyPr>
          <a:lstStyle/>
          <a:p>
            <a:r>
              <a:rPr lang="en-US" sz="4000" b="1" u="sng" dirty="0">
                <a:latin typeface="Times New Roman" panose="02020603050405020304" pitchFamily="18" charset="0"/>
                <a:cs typeface="Times New Roman" panose="02020603050405020304" pitchFamily="18" charset="0"/>
              </a:rPr>
              <a:t>EXISTING DIAGRAM:</a:t>
            </a:r>
            <a:endParaRPr lang="en-IN" sz="4000" b="1" u="sng" dirty="0">
              <a:latin typeface="Times New Roman" panose="02020603050405020304" pitchFamily="18" charset="0"/>
              <a:cs typeface="Times New Roman" panose="02020603050405020304" pitchFamily="18" charset="0"/>
            </a:endParaRPr>
          </a:p>
        </p:txBody>
      </p:sp>
      <p:pic>
        <p:nvPicPr>
          <p:cNvPr id="5" name="Content Placeholder 4" descr="A diagram of a computer system&#10;&#10;AI-generated content may be incorrect.">
            <a:extLst>
              <a:ext uri="{FF2B5EF4-FFF2-40B4-BE49-F238E27FC236}">
                <a16:creationId xmlns:a16="http://schemas.microsoft.com/office/drawing/2014/main" id="{AE160685-3E33-6797-8B22-7044C6E8D54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6491" b="24676"/>
          <a:stretch>
            <a:fillRect/>
          </a:stretch>
        </p:blipFill>
        <p:spPr>
          <a:xfrm>
            <a:off x="1350565" y="1410787"/>
            <a:ext cx="9490870" cy="4634683"/>
          </a:xfrm>
        </p:spPr>
      </p:pic>
    </p:spTree>
    <p:extLst>
      <p:ext uri="{BB962C8B-B14F-4D97-AF65-F5344CB8AC3E}">
        <p14:creationId xmlns:p14="http://schemas.microsoft.com/office/powerpoint/2010/main" val="2962028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08A0B-DD1B-B9E2-8325-BABC885FDA74}"/>
              </a:ext>
            </a:extLst>
          </p:cNvPr>
          <p:cNvSpPr>
            <a:spLocks noGrp="1"/>
          </p:cNvSpPr>
          <p:nvPr>
            <p:ph type="title"/>
          </p:nvPr>
        </p:nvSpPr>
        <p:spPr>
          <a:xfrm>
            <a:off x="433137" y="365125"/>
            <a:ext cx="10515600" cy="1325563"/>
          </a:xfrm>
        </p:spPr>
        <p:txBody>
          <a:bodyPr>
            <a:normAutofit/>
          </a:bodyPr>
          <a:lstStyle/>
          <a:p>
            <a:r>
              <a:rPr lang="en-IN" sz="4000" b="1" u="sng" dirty="0">
                <a:latin typeface="Times New Roman" panose="02020603050405020304" pitchFamily="18" charset="0"/>
                <a:cs typeface="Times New Roman" panose="02020603050405020304" pitchFamily="18" charset="0"/>
              </a:rPr>
              <a:t>DRAWBACKS:</a:t>
            </a:r>
          </a:p>
        </p:txBody>
      </p:sp>
      <p:sp>
        <p:nvSpPr>
          <p:cNvPr id="4" name="Rectangle 1">
            <a:extLst>
              <a:ext uri="{FF2B5EF4-FFF2-40B4-BE49-F238E27FC236}">
                <a16:creationId xmlns:a16="http://schemas.microsoft.com/office/drawing/2014/main" id="{12184671-166C-CB64-799F-AFF42245F806}"/>
              </a:ext>
            </a:extLst>
          </p:cNvPr>
          <p:cNvSpPr>
            <a:spLocks noGrp="1" noChangeArrowheads="1"/>
          </p:cNvSpPr>
          <p:nvPr>
            <p:ph idx="1"/>
          </p:nvPr>
        </p:nvSpPr>
        <p:spPr bwMode="auto">
          <a:xfrm>
            <a:off x="433137" y="1690688"/>
            <a:ext cx="11566358"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dirty="0">
                <a:latin typeface="Times New Roman" panose="02020603050405020304" pitchFamily="18" charset="0"/>
                <a:cs typeface="Times New Roman" panose="02020603050405020304" pitchFamily="18" charset="0"/>
              </a:rPr>
              <a:t>• Highly sensitive to lighting variations and reflections, causing inconsistent defect detection results.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Limited accuracy due to dependence on basic CNN and image processing models.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Performance varies across different material types, textures, and surface conditions.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Requires frequent manual calibration and supervision to maintain reliability.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Lacks adaptability to dynamic industrial environments and varying production speeds.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Struggles with noise, motion blur, and environmental interference during inspection.</a:t>
            </a:r>
            <a:br>
              <a:rPr lang="en-US" dirty="0">
                <a:latin typeface="Times New Roman" panose="02020603050405020304" pitchFamily="18" charset="0"/>
                <a:cs typeface="Times New Roman" panose="02020603050405020304" pitchFamily="18" charset="0"/>
              </a:rPr>
            </a:b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8440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95BF5-EEC2-570A-1422-28DE1466F6FB}"/>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LITERATURE SURVEY:</a:t>
            </a:r>
            <a:endParaRPr lang="en-IN" dirty="0"/>
          </a:p>
        </p:txBody>
      </p:sp>
      <p:sp>
        <p:nvSpPr>
          <p:cNvPr id="4" name="Rectangle 1">
            <a:extLst>
              <a:ext uri="{FF2B5EF4-FFF2-40B4-BE49-F238E27FC236}">
                <a16:creationId xmlns:a16="http://schemas.microsoft.com/office/drawing/2014/main" id="{430124BB-4CF0-168C-FE21-7AACC63DE5AB}"/>
              </a:ext>
            </a:extLst>
          </p:cNvPr>
          <p:cNvSpPr>
            <a:spLocks noGrp="1" noChangeArrowheads="1"/>
          </p:cNvSpPr>
          <p:nvPr>
            <p:ph idx="1"/>
          </p:nvPr>
        </p:nvSpPr>
        <p:spPr bwMode="auto">
          <a:xfrm>
            <a:off x="694403" y="1690688"/>
            <a:ext cx="1080319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dirty="0"/>
              <a:t>• Traditional inspection relies on manual checks and sensors, which can be inconsistent and time-consuming.</a:t>
            </a:r>
            <a:br>
              <a:rPr lang="en-US" dirty="0"/>
            </a:br>
            <a:r>
              <a:rPr lang="en-US" dirty="0"/>
              <a:t>• Modern systems use cameras and deep learning for automated, contactless quality evaluation.</a:t>
            </a:r>
            <a:br>
              <a:rPr lang="en-US" dirty="0"/>
            </a:br>
            <a:r>
              <a:rPr lang="en-US" dirty="0"/>
              <a:t>• Vision Transformer-based models provide accurate, real-time, and non-invasive defect detection.</a:t>
            </a:r>
            <a:br>
              <a:rPr lang="en-US" dirty="0"/>
            </a:br>
            <a:r>
              <a:rPr lang="en-US" dirty="0"/>
              <a:t>• Improve efficiency and ensure consistent production standards.</a:t>
            </a:r>
            <a:br>
              <a:rPr lang="en-US" dirty="0"/>
            </a:br>
            <a:r>
              <a:rPr lang="en-US" dirty="0"/>
              <a:t>• Require continued optimization for precision and data security.</a:t>
            </a:r>
            <a:br>
              <a:rPr lang="en-US" dirty="0"/>
            </a:br>
            <a:r>
              <a:rPr lang="en-US" dirty="0"/>
              <a:t>• Aim to make industrial quality control smarter, faster, and more reliable.</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100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DBE5F-92BC-4420-9B43-598F5EDAF1BD}"/>
              </a:ext>
            </a:extLst>
          </p:cNvPr>
          <p:cNvSpPr>
            <a:spLocks noGrp="1"/>
          </p:cNvSpPr>
          <p:nvPr>
            <p:ph type="title"/>
          </p:nvPr>
        </p:nvSpPr>
        <p:spPr>
          <a:xfrm>
            <a:off x="291189" y="303027"/>
            <a:ext cx="11609622" cy="789906"/>
          </a:xfrm>
        </p:spPr>
        <p:txBody>
          <a:bodyPr>
            <a:normAutofit fontScale="90000"/>
          </a:bodyPr>
          <a:lstStyle/>
          <a:p>
            <a:r>
              <a:rPr lang="en-US" sz="4000" b="1" u="sng" dirty="0">
                <a:latin typeface="Times New Roman" panose="02020603050405020304" pitchFamily="18" charset="0"/>
                <a:cs typeface="Times New Roman" panose="02020603050405020304" pitchFamily="18" charset="0"/>
              </a:rPr>
              <a:t>LITERATURE SURVEY WITH COMPARISON TABLE:</a:t>
            </a:r>
          </a:p>
        </p:txBody>
      </p:sp>
      <p:graphicFrame>
        <p:nvGraphicFramePr>
          <p:cNvPr id="6" name="Content Placeholder 5">
            <a:extLst>
              <a:ext uri="{FF2B5EF4-FFF2-40B4-BE49-F238E27FC236}">
                <a16:creationId xmlns:a16="http://schemas.microsoft.com/office/drawing/2014/main" id="{C3865666-16D3-D36D-DF3F-B4435BEC8527}"/>
              </a:ext>
            </a:extLst>
          </p:cNvPr>
          <p:cNvGraphicFramePr>
            <a:graphicFrameLocks noGrp="1"/>
          </p:cNvGraphicFramePr>
          <p:nvPr>
            <p:ph idx="1"/>
            <p:extLst>
              <p:ext uri="{D42A27DB-BD31-4B8C-83A1-F6EECF244321}">
                <p14:modId xmlns:p14="http://schemas.microsoft.com/office/powerpoint/2010/main" val="3436873053"/>
              </p:ext>
            </p:extLst>
          </p:nvPr>
        </p:nvGraphicFramePr>
        <p:xfrm>
          <a:off x="898358" y="1194693"/>
          <a:ext cx="10395284" cy="5116440"/>
        </p:xfrm>
        <a:graphic>
          <a:graphicData uri="http://schemas.openxmlformats.org/drawingml/2006/table">
            <a:tbl>
              <a:tblPr>
                <a:tableStyleId>{5940675A-B579-460E-94D1-54222C63F5DA}</a:tableStyleId>
              </a:tblPr>
              <a:tblGrid>
                <a:gridCol w="2598821">
                  <a:extLst>
                    <a:ext uri="{9D8B030D-6E8A-4147-A177-3AD203B41FA5}">
                      <a16:colId xmlns:a16="http://schemas.microsoft.com/office/drawing/2014/main" val="2052241880"/>
                    </a:ext>
                  </a:extLst>
                </a:gridCol>
                <a:gridCol w="2598821">
                  <a:extLst>
                    <a:ext uri="{9D8B030D-6E8A-4147-A177-3AD203B41FA5}">
                      <a16:colId xmlns:a16="http://schemas.microsoft.com/office/drawing/2014/main" val="3049209814"/>
                    </a:ext>
                  </a:extLst>
                </a:gridCol>
                <a:gridCol w="2598821">
                  <a:extLst>
                    <a:ext uri="{9D8B030D-6E8A-4147-A177-3AD203B41FA5}">
                      <a16:colId xmlns:a16="http://schemas.microsoft.com/office/drawing/2014/main" val="523802649"/>
                    </a:ext>
                  </a:extLst>
                </a:gridCol>
                <a:gridCol w="2598821">
                  <a:extLst>
                    <a:ext uri="{9D8B030D-6E8A-4147-A177-3AD203B41FA5}">
                      <a16:colId xmlns:a16="http://schemas.microsoft.com/office/drawing/2014/main" val="1640779316"/>
                    </a:ext>
                  </a:extLst>
                </a:gridCol>
              </a:tblGrid>
              <a:tr h="494175">
                <a:tc>
                  <a:txBody>
                    <a:bodyPr/>
                    <a:lstStyle/>
                    <a:p>
                      <a:pPr>
                        <a:buNone/>
                      </a:pPr>
                      <a:r>
                        <a:rPr lang="en-IN" sz="1600" b="1" dirty="0">
                          <a:latin typeface="Times New Roman" panose="02020603050405020304" pitchFamily="18" charset="0"/>
                          <a:cs typeface="Times New Roman" panose="02020603050405020304" pitchFamily="18" charset="0"/>
                        </a:rPr>
                        <a:t>Approach / Method</a:t>
                      </a:r>
                      <a:endParaRPr lang="en-IN" sz="1600" dirty="0">
                        <a:latin typeface="Times New Roman" panose="02020603050405020304" pitchFamily="18" charset="0"/>
                        <a:cs typeface="Times New Roman" panose="02020603050405020304" pitchFamily="18" charset="0"/>
                      </a:endParaRPr>
                    </a:p>
                  </a:txBody>
                  <a:tcPr marL="53720" marR="53720" marT="26860" marB="26860" anchor="ctr"/>
                </a:tc>
                <a:tc>
                  <a:txBody>
                    <a:bodyPr/>
                    <a:lstStyle/>
                    <a:p>
                      <a:pPr>
                        <a:buNone/>
                      </a:pPr>
                      <a:r>
                        <a:rPr lang="en-IN" sz="1600" b="1">
                          <a:latin typeface="Times New Roman" panose="02020603050405020304" pitchFamily="18" charset="0"/>
                          <a:cs typeface="Times New Roman" panose="02020603050405020304" pitchFamily="18" charset="0"/>
                        </a:rPr>
                        <a:t>Manual / Sensor-Based Inspection</a:t>
                      </a:r>
                      <a:endParaRPr lang="en-IN" sz="1600">
                        <a:latin typeface="Times New Roman" panose="02020603050405020304" pitchFamily="18" charset="0"/>
                        <a:cs typeface="Times New Roman" panose="02020603050405020304" pitchFamily="18" charset="0"/>
                      </a:endParaRPr>
                    </a:p>
                  </a:txBody>
                  <a:tcPr marL="53720" marR="53720" marT="26860" marB="26860" anchor="ctr"/>
                </a:tc>
                <a:tc>
                  <a:txBody>
                    <a:bodyPr/>
                    <a:lstStyle/>
                    <a:p>
                      <a:pPr>
                        <a:buNone/>
                      </a:pPr>
                      <a:r>
                        <a:rPr lang="en-IN" sz="1600" b="1">
                          <a:latin typeface="Times New Roman" panose="02020603050405020304" pitchFamily="18" charset="0"/>
                          <a:cs typeface="Times New Roman" panose="02020603050405020304" pitchFamily="18" charset="0"/>
                        </a:rPr>
                        <a:t>Camera-Based (Conventional CNN)</a:t>
                      </a:r>
                      <a:endParaRPr lang="en-IN" sz="1600">
                        <a:latin typeface="Times New Roman" panose="02020603050405020304" pitchFamily="18" charset="0"/>
                        <a:cs typeface="Times New Roman" panose="02020603050405020304" pitchFamily="18" charset="0"/>
                      </a:endParaRPr>
                    </a:p>
                  </a:txBody>
                  <a:tcPr marL="53720" marR="53720" marT="26860" marB="26860" anchor="ctr"/>
                </a:tc>
                <a:tc>
                  <a:txBody>
                    <a:bodyPr/>
                    <a:lstStyle/>
                    <a:p>
                      <a:pPr>
                        <a:buNone/>
                      </a:pPr>
                      <a:r>
                        <a:rPr lang="en-IN" sz="1600" b="1" dirty="0">
                          <a:latin typeface="Times New Roman" panose="02020603050405020304" pitchFamily="18" charset="0"/>
                          <a:cs typeface="Times New Roman" panose="02020603050405020304" pitchFamily="18" charset="0"/>
                        </a:rPr>
                        <a:t>Vision Transformer-Based Model (Proposed)</a:t>
                      </a:r>
                      <a:endParaRPr lang="en-IN" sz="1600" dirty="0">
                        <a:latin typeface="Times New Roman" panose="02020603050405020304" pitchFamily="18" charset="0"/>
                        <a:cs typeface="Times New Roman" panose="02020603050405020304" pitchFamily="18" charset="0"/>
                      </a:endParaRPr>
                    </a:p>
                  </a:txBody>
                  <a:tcPr marL="53720" marR="53720" marT="26860" marB="26860" anchor="ctr"/>
                </a:tc>
                <a:extLst>
                  <a:ext uri="{0D108BD9-81ED-4DB2-BD59-A6C34878D82A}">
                    <a16:rowId xmlns:a16="http://schemas.microsoft.com/office/drawing/2014/main" val="189898086"/>
                  </a:ext>
                </a:extLst>
              </a:tr>
              <a:tr h="494175">
                <a:tc>
                  <a:txBody>
                    <a:bodyPr/>
                    <a:lstStyle/>
                    <a:p>
                      <a:pPr>
                        <a:buNone/>
                      </a:pPr>
                      <a:r>
                        <a:rPr lang="en-IN" sz="1600" b="1">
                          <a:latin typeface="Times New Roman" panose="02020603050405020304" pitchFamily="18" charset="0"/>
                          <a:cs typeface="Times New Roman" panose="02020603050405020304" pitchFamily="18" charset="0"/>
                        </a:rPr>
                        <a:t>Contact Requirement</a:t>
                      </a:r>
                      <a:endParaRPr lang="en-IN" sz="1600">
                        <a:latin typeface="Times New Roman" panose="02020603050405020304" pitchFamily="18" charset="0"/>
                        <a:cs typeface="Times New Roman" panose="02020603050405020304" pitchFamily="18" charset="0"/>
                      </a:endParaRPr>
                    </a:p>
                  </a:txBody>
                  <a:tcPr marL="53720" marR="53720" marT="26860" marB="26860" anchor="ctr"/>
                </a:tc>
                <a:tc>
                  <a:txBody>
                    <a:bodyPr/>
                    <a:lstStyle/>
                    <a:p>
                      <a:pPr>
                        <a:buNone/>
                      </a:pPr>
                      <a:r>
                        <a:rPr lang="en-US" sz="1600" dirty="0">
                          <a:latin typeface="Times New Roman" panose="02020603050405020304" pitchFamily="18" charset="0"/>
                          <a:cs typeface="Times New Roman" panose="02020603050405020304" pitchFamily="18" charset="0"/>
                        </a:rPr>
                        <a:t>Requires human operators and physical sensors</a:t>
                      </a:r>
                    </a:p>
                  </a:txBody>
                  <a:tcPr marL="53720" marR="53720" marT="26860" marB="26860" anchor="ctr"/>
                </a:tc>
                <a:tc>
                  <a:txBody>
                    <a:bodyPr/>
                    <a:lstStyle/>
                    <a:p>
                      <a:pPr>
                        <a:buNone/>
                      </a:pPr>
                      <a:r>
                        <a:rPr lang="en-IN" sz="1600">
                          <a:latin typeface="Times New Roman" panose="02020603050405020304" pitchFamily="18" charset="0"/>
                          <a:cs typeface="Times New Roman" panose="02020603050405020304" pitchFamily="18" charset="0"/>
                        </a:rPr>
                        <a:t>Requires camera setup</a:t>
                      </a:r>
                    </a:p>
                  </a:txBody>
                  <a:tcPr marL="53720" marR="53720" marT="26860" marB="26860" anchor="ctr"/>
                </a:tc>
                <a:tc>
                  <a:txBody>
                    <a:bodyPr/>
                    <a:lstStyle/>
                    <a:p>
                      <a:pPr>
                        <a:buNone/>
                      </a:pPr>
                      <a:r>
                        <a:rPr lang="en-IN" sz="1600">
                          <a:latin typeface="Times New Roman" panose="02020603050405020304" pitchFamily="18" charset="0"/>
                          <a:cs typeface="Times New Roman" panose="02020603050405020304" pitchFamily="18" charset="0"/>
                        </a:rPr>
                        <a:t>Fully automated and contactless</a:t>
                      </a:r>
                    </a:p>
                  </a:txBody>
                  <a:tcPr marL="53720" marR="53720" marT="26860" marB="26860" anchor="ctr"/>
                </a:tc>
                <a:extLst>
                  <a:ext uri="{0D108BD9-81ED-4DB2-BD59-A6C34878D82A}">
                    <a16:rowId xmlns:a16="http://schemas.microsoft.com/office/drawing/2014/main" val="716110242"/>
                  </a:ext>
                </a:extLst>
              </a:tr>
              <a:tr h="492736">
                <a:tc>
                  <a:txBody>
                    <a:bodyPr/>
                    <a:lstStyle/>
                    <a:p>
                      <a:pPr>
                        <a:buNone/>
                      </a:pPr>
                      <a:r>
                        <a:rPr lang="en-IN" sz="1600" b="1">
                          <a:latin typeface="Times New Roman" panose="02020603050405020304" pitchFamily="18" charset="0"/>
                          <a:cs typeface="Times New Roman" panose="02020603050405020304" pitchFamily="18" charset="0"/>
                        </a:rPr>
                        <a:t>Speed of Operation</a:t>
                      </a:r>
                      <a:endParaRPr lang="en-IN" sz="1600">
                        <a:latin typeface="Times New Roman" panose="02020603050405020304" pitchFamily="18" charset="0"/>
                        <a:cs typeface="Times New Roman" panose="02020603050405020304" pitchFamily="18" charset="0"/>
                      </a:endParaRPr>
                    </a:p>
                  </a:txBody>
                  <a:tcPr marL="53720" marR="53720" marT="26860" marB="26860" anchor="ctr"/>
                </a:tc>
                <a:tc>
                  <a:txBody>
                    <a:bodyPr/>
                    <a:lstStyle/>
                    <a:p>
                      <a:pPr>
                        <a:buNone/>
                      </a:pPr>
                      <a:r>
                        <a:rPr lang="en-IN" sz="1600">
                          <a:latin typeface="Times New Roman" panose="02020603050405020304" pitchFamily="18" charset="0"/>
                          <a:cs typeface="Times New Roman" panose="02020603050405020304" pitchFamily="18" charset="0"/>
                        </a:rPr>
                        <a:t>Slow and time-consuming</a:t>
                      </a:r>
                    </a:p>
                  </a:txBody>
                  <a:tcPr marL="53720" marR="53720" marT="26860" marB="26860" anchor="ctr"/>
                </a:tc>
                <a:tc>
                  <a:txBody>
                    <a:bodyPr/>
                    <a:lstStyle/>
                    <a:p>
                      <a:pPr>
                        <a:buNone/>
                      </a:pPr>
                      <a:r>
                        <a:rPr lang="en-IN" sz="1600">
                          <a:latin typeface="Times New Roman" panose="02020603050405020304" pitchFamily="18" charset="0"/>
                          <a:cs typeface="Times New Roman" panose="02020603050405020304" pitchFamily="18" charset="0"/>
                        </a:rPr>
                        <a:t>Moderate processing time</a:t>
                      </a:r>
                    </a:p>
                  </a:txBody>
                  <a:tcPr marL="53720" marR="53720" marT="26860" marB="26860" anchor="ctr"/>
                </a:tc>
                <a:tc>
                  <a:txBody>
                    <a:bodyPr/>
                    <a:lstStyle/>
                    <a:p>
                      <a:pPr>
                        <a:buNone/>
                      </a:pPr>
                      <a:r>
                        <a:rPr lang="en-IN" sz="1600">
                          <a:latin typeface="Times New Roman" panose="02020603050405020304" pitchFamily="18" charset="0"/>
                          <a:cs typeface="Times New Roman" panose="02020603050405020304" pitchFamily="18" charset="0"/>
                        </a:rPr>
                        <a:t>High-speed, real-time evaluation</a:t>
                      </a:r>
                    </a:p>
                  </a:txBody>
                  <a:tcPr marL="53720" marR="53720" marT="26860" marB="26860" anchor="ctr"/>
                </a:tc>
                <a:extLst>
                  <a:ext uri="{0D108BD9-81ED-4DB2-BD59-A6C34878D82A}">
                    <a16:rowId xmlns:a16="http://schemas.microsoft.com/office/drawing/2014/main" val="2988339137"/>
                  </a:ext>
                </a:extLst>
              </a:tr>
              <a:tr h="494175">
                <a:tc>
                  <a:txBody>
                    <a:bodyPr/>
                    <a:lstStyle/>
                    <a:p>
                      <a:pPr>
                        <a:buNone/>
                      </a:pPr>
                      <a:r>
                        <a:rPr lang="en-IN" sz="1600" b="1">
                          <a:latin typeface="Times New Roman" panose="02020603050405020304" pitchFamily="18" charset="0"/>
                          <a:cs typeface="Times New Roman" panose="02020603050405020304" pitchFamily="18" charset="0"/>
                        </a:rPr>
                        <a:t>Accuracy and Consistency</a:t>
                      </a:r>
                      <a:endParaRPr lang="en-IN" sz="1600">
                        <a:latin typeface="Times New Roman" panose="02020603050405020304" pitchFamily="18" charset="0"/>
                        <a:cs typeface="Times New Roman" panose="02020603050405020304" pitchFamily="18" charset="0"/>
                      </a:endParaRPr>
                    </a:p>
                  </a:txBody>
                  <a:tcPr marL="53720" marR="53720" marT="26860" marB="26860" anchor="ctr"/>
                </a:tc>
                <a:tc>
                  <a:txBody>
                    <a:bodyPr/>
                    <a:lstStyle/>
                    <a:p>
                      <a:pPr>
                        <a:buNone/>
                      </a:pPr>
                      <a:r>
                        <a:rPr lang="en-IN" sz="1600">
                          <a:latin typeface="Times New Roman" panose="02020603050405020304" pitchFamily="18" charset="0"/>
                          <a:cs typeface="Times New Roman" panose="02020603050405020304" pitchFamily="18" charset="0"/>
                        </a:rPr>
                        <a:t>Prone to human error</a:t>
                      </a:r>
                    </a:p>
                  </a:txBody>
                  <a:tcPr marL="53720" marR="53720" marT="26860" marB="26860" anchor="ctr"/>
                </a:tc>
                <a:tc>
                  <a:txBody>
                    <a:bodyPr/>
                    <a:lstStyle/>
                    <a:p>
                      <a:pPr>
                        <a:buNone/>
                      </a:pPr>
                      <a:r>
                        <a:rPr lang="en-US" sz="1600" dirty="0">
                          <a:latin typeface="Times New Roman" panose="02020603050405020304" pitchFamily="18" charset="0"/>
                          <a:cs typeface="Times New Roman" panose="02020603050405020304" pitchFamily="18" charset="0"/>
                        </a:rPr>
                        <a:t>Good but limited by CNN’s feature scope</a:t>
                      </a:r>
                    </a:p>
                  </a:txBody>
                  <a:tcPr marL="53720" marR="53720" marT="26860" marB="26860" anchor="ctr"/>
                </a:tc>
                <a:tc>
                  <a:txBody>
                    <a:bodyPr/>
                    <a:lstStyle/>
                    <a:p>
                      <a:pPr>
                        <a:buNone/>
                      </a:pPr>
                      <a:r>
                        <a:rPr lang="en-US" sz="1600">
                          <a:latin typeface="Times New Roman" panose="02020603050405020304" pitchFamily="18" charset="0"/>
                          <a:cs typeface="Times New Roman" panose="02020603050405020304" pitchFamily="18" charset="0"/>
                        </a:rPr>
                        <a:t>Highly accurate with global attention mechanism</a:t>
                      </a:r>
                    </a:p>
                  </a:txBody>
                  <a:tcPr marL="53720" marR="53720" marT="26860" marB="26860" anchor="ctr"/>
                </a:tc>
                <a:extLst>
                  <a:ext uri="{0D108BD9-81ED-4DB2-BD59-A6C34878D82A}">
                    <a16:rowId xmlns:a16="http://schemas.microsoft.com/office/drawing/2014/main" val="3175541603"/>
                  </a:ext>
                </a:extLst>
              </a:tr>
              <a:tr h="492736">
                <a:tc>
                  <a:txBody>
                    <a:bodyPr/>
                    <a:lstStyle/>
                    <a:p>
                      <a:pPr>
                        <a:buNone/>
                      </a:pPr>
                      <a:r>
                        <a:rPr lang="en-IN" sz="1600" b="1">
                          <a:latin typeface="Times New Roman" panose="02020603050405020304" pitchFamily="18" charset="0"/>
                          <a:cs typeface="Times New Roman" panose="02020603050405020304" pitchFamily="18" charset="0"/>
                        </a:rPr>
                        <a:t>Complexity</a:t>
                      </a:r>
                      <a:endParaRPr lang="en-IN" sz="1600">
                        <a:latin typeface="Times New Roman" panose="02020603050405020304" pitchFamily="18" charset="0"/>
                        <a:cs typeface="Times New Roman" panose="02020603050405020304" pitchFamily="18" charset="0"/>
                      </a:endParaRPr>
                    </a:p>
                  </a:txBody>
                  <a:tcPr marL="53720" marR="53720" marT="26860" marB="26860" anchor="ctr"/>
                </a:tc>
                <a:tc>
                  <a:txBody>
                    <a:bodyPr/>
                    <a:lstStyle/>
                    <a:p>
                      <a:pPr>
                        <a:buNone/>
                      </a:pPr>
                      <a:r>
                        <a:rPr lang="en-IN" sz="1600">
                          <a:latin typeface="Times New Roman" panose="02020603050405020304" pitchFamily="18" charset="0"/>
                          <a:cs typeface="Times New Roman" panose="02020603050405020304" pitchFamily="18" charset="0"/>
                        </a:rPr>
                        <a:t>Simple but inefficient</a:t>
                      </a:r>
                    </a:p>
                  </a:txBody>
                  <a:tcPr marL="53720" marR="53720" marT="26860" marB="26860" anchor="ctr"/>
                </a:tc>
                <a:tc>
                  <a:txBody>
                    <a:bodyPr/>
                    <a:lstStyle/>
                    <a:p>
                      <a:pPr>
                        <a:buNone/>
                      </a:pPr>
                      <a:r>
                        <a:rPr lang="en-IN" sz="1600">
                          <a:latin typeface="Times New Roman" panose="02020603050405020304" pitchFamily="18" charset="0"/>
                          <a:cs typeface="Times New Roman" panose="02020603050405020304" pitchFamily="18" charset="0"/>
                        </a:rPr>
                        <a:t>Moderate complexity</a:t>
                      </a:r>
                    </a:p>
                  </a:txBody>
                  <a:tcPr marL="53720" marR="53720" marT="26860" marB="26860" anchor="ctr"/>
                </a:tc>
                <a:tc>
                  <a:txBody>
                    <a:bodyPr/>
                    <a:lstStyle/>
                    <a:p>
                      <a:pPr>
                        <a:buNone/>
                      </a:pPr>
                      <a:r>
                        <a:rPr lang="en-IN" sz="1600">
                          <a:latin typeface="Times New Roman" panose="02020603050405020304" pitchFamily="18" charset="0"/>
                          <a:cs typeface="Times New Roman" panose="02020603050405020304" pitchFamily="18" charset="0"/>
                        </a:rPr>
                        <a:t>Advanced architecture, self-attention driven</a:t>
                      </a:r>
                    </a:p>
                  </a:txBody>
                  <a:tcPr marL="53720" marR="53720" marT="26860" marB="26860" anchor="ctr"/>
                </a:tc>
                <a:extLst>
                  <a:ext uri="{0D108BD9-81ED-4DB2-BD59-A6C34878D82A}">
                    <a16:rowId xmlns:a16="http://schemas.microsoft.com/office/drawing/2014/main" val="978815915"/>
                  </a:ext>
                </a:extLst>
              </a:tr>
              <a:tr h="492736">
                <a:tc>
                  <a:txBody>
                    <a:bodyPr/>
                    <a:lstStyle/>
                    <a:p>
                      <a:pPr>
                        <a:buNone/>
                      </a:pPr>
                      <a:r>
                        <a:rPr lang="en-IN" sz="1600" b="1">
                          <a:latin typeface="Times New Roman" panose="02020603050405020304" pitchFamily="18" charset="0"/>
                          <a:cs typeface="Times New Roman" panose="02020603050405020304" pitchFamily="18" charset="0"/>
                        </a:rPr>
                        <a:t>Scalability</a:t>
                      </a:r>
                      <a:endParaRPr lang="en-IN" sz="1600">
                        <a:latin typeface="Times New Roman" panose="02020603050405020304" pitchFamily="18" charset="0"/>
                        <a:cs typeface="Times New Roman" panose="02020603050405020304" pitchFamily="18" charset="0"/>
                      </a:endParaRPr>
                    </a:p>
                  </a:txBody>
                  <a:tcPr marL="53720" marR="53720" marT="26860" marB="26860" anchor="ctr"/>
                </a:tc>
                <a:tc>
                  <a:txBody>
                    <a:bodyPr/>
                    <a:lstStyle/>
                    <a:p>
                      <a:pPr>
                        <a:buNone/>
                      </a:pPr>
                      <a:r>
                        <a:rPr lang="en-US" sz="1600">
                          <a:latin typeface="Times New Roman" panose="02020603050405020304" pitchFamily="18" charset="0"/>
                          <a:cs typeface="Times New Roman" panose="02020603050405020304" pitchFamily="18" charset="0"/>
                        </a:rPr>
                        <a:t>Not scalable for industrial automation</a:t>
                      </a:r>
                    </a:p>
                  </a:txBody>
                  <a:tcPr marL="53720" marR="53720" marT="26860" marB="26860" anchor="ctr"/>
                </a:tc>
                <a:tc>
                  <a:txBody>
                    <a:bodyPr/>
                    <a:lstStyle/>
                    <a:p>
                      <a:pPr>
                        <a:buNone/>
                      </a:pPr>
                      <a:r>
                        <a:rPr lang="en-IN" sz="1600" dirty="0">
                          <a:latin typeface="Times New Roman" panose="02020603050405020304" pitchFamily="18" charset="0"/>
                          <a:cs typeface="Times New Roman" panose="02020603050405020304" pitchFamily="18" charset="0"/>
                        </a:rPr>
                        <a:t>Scalable with limitations</a:t>
                      </a:r>
                    </a:p>
                  </a:txBody>
                  <a:tcPr marL="53720" marR="53720" marT="26860" marB="26860" anchor="ctr"/>
                </a:tc>
                <a:tc>
                  <a:txBody>
                    <a:bodyPr/>
                    <a:lstStyle/>
                    <a:p>
                      <a:pPr>
                        <a:buNone/>
                      </a:pPr>
                      <a:r>
                        <a:rPr lang="en-US" sz="1600">
                          <a:latin typeface="Times New Roman" panose="02020603050405020304" pitchFamily="18" charset="0"/>
                          <a:cs typeface="Times New Roman" panose="02020603050405020304" pitchFamily="18" charset="0"/>
                        </a:rPr>
                        <a:t>Highly scalable for Industry 4.0 systems</a:t>
                      </a:r>
                    </a:p>
                  </a:txBody>
                  <a:tcPr marL="53720" marR="53720" marT="26860" marB="26860" anchor="ctr"/>
                </a:tc>
                <a:extLst>
                  <a:ext uri="{0D108BD9-81ED-4DB2-BD59-A6C34878D82A}">
                    <a16:rowId xmlns:a16="http://schemas.microsoft.com/office/drawing/2014/main" val="2260453628"/>
                  </a:ext>
                </a:extLst>
              </a:tr>
              <a:tr h="494175">
                <a:tc>
                  <a:txBody>
                    <a:bodyPr/>
                    <a:lstStyle/>
                    <a:p>
                      <a:pPr>
                        <a:buNone/>
                      </a:pPr>
                      <a:r>
                        <a:rPr lang="en-IN" sz="1600" b="1">
                          <a:latin typeface="Times New Roman" panose="02020603050405020304" pitchFamily="18" charset="0"/>
                          <a:cs typeface="Times New Roman" panose="02020603050405020304" pitchFamily="18" charset="0"/>
                        </a:rPr>
                        <a:t>Maintenance</a:t>
                      </a:r>
                      <a:endParaRPr lang="en-IN" sz="1600">
                        <a:latin typeface="Times New Roman" panose="02020603050405020304" pitchFamily="18" charset="0"/>
                        <a:cs typeface="Times New Roman" panose="02020603050405020304" pitchFamily="18" charset="0"/>
                      </a:endParaRPr>
                    </a:p>
                  </a:txBody>
                  <a:tcPr marL="53720" marR="53720" marT="26860" marB="26860" anchor="ctr"/>
                </a:tc>
                <a:tc>
                  <a:txBody>
                    <a:bodyPr/>
                    <a:lstStyle/>
                    <a:p>
                      <a:pPr>
                        <a:buNone/>
                      </a:pPr>
                      <a:r>
                        <a:rPr lang="en-US" sz="1600" dirty="0">
                          <a:latin typeface="Times New Roman" panose="02020603050405020304" pitchFamily="18" charset="0"/>
                          <a:cs typeface="Times New Roman" panose="02020603050405020304" pitchFamily="18" charset="0"/>
                        </a:rPr>
                        <a:t>Requires frequent calibration and manpower</a:t>
                      </a:r>
                    </a:p>
                  </a:txBody>
                  <a:tcPr marL="53720" marR="53720" marT="26860" marB="26860" anchor="ctr"/>
                </a:tc>
                <a:tc>
                  <a:txBody>
                    <a:bodyPr/>
                    <a:lstStyle/>
                    <a:p>
                      <a:pPr>
                        <a:buNone/>
                      </a:pPr>
                      <a:r>
                        <a:rPr lang="en-IN" sz="1600">
                          <a:latin typeface="Times New Roman" panose="02020603050405020304" pitchFamily="18" charset="0"/>
                          <a:cs typeface="Times New Roman" panose="02020603050405020304" pitchFamily="18" charset="0"/>
                        </a:rPr>
                        <a:t>Requires regular retraining</a:t>
                      </a:r>
                    </a:p>
                  </a:txBody>
                  <a:tcPr marL="53720" marR="53720" marT="26860" marB="26860" anchor="ctr"/>
                </a:tc>
                <a:tc>
                  <a:txBody>
                    <a:bodyPr/>
                    <a:lstStyle/>
                    <a:p>
                      <a:pPr>
                        <a:buNone/>
                      </a:pPr>
                      <a:r>
                        <a:rPr lang="en-US" sz="1600">
                          <a:latin typeface="Times New Roman" panose="02020603050405020304" pitchFamily="18" charset="0"/>
                          <a:cs typeface="Times New Roman" panose="02020603050405020304" pitchFamily="18" charset="0"/>
                        </a:rPr>
                        <a:t>Minimal maintenance with self-adaptive models</a:t>
                      </a:r>
                    </a:p>
                  </a:txBody>
                  <a:tcPr marL="53720" marR="53720" marT="26860" marB="26860" anchor="ctr"/>
                </a:tc>
                <a:extLst>
                  <a:ext uri="{0D108BD9-81ED-4DB2-BD59-A6C34878D82A}">
                    <a16:rowId xmlns:a16="http://schemas.microsoft.com/office/drawing/2014/main" val="1095772648"/>
                  </a:ext>
                </a:extLst>
              </a:tr>
              <a:tr h="494175">
                <a:tc>
                  <a:txBody>
                    <a:bodyPr/>
                    <a:lstStyle/>
                    <a:p>
                      <a:pPr>
                        <a:buNone/>
                      </a:pPr>
                      <a:r>
                        <a:rPr lang="en-IN" sz="1600" b="1">
                          <a:latin typeface="Times New Roman" panose="02020603050405020304" pitchFamily="18" charset="0"/>
                          <a:cs typeface="Times New Roman" panose="02020603050405020304" pitchFamily="18" charset="0"/>
                        </a:rPr>
                        <a:t>Environment Sensitivity</a:t>
                      </a:r>
                      <a:endParaRPr lang="en-IN" sz="1600">
                        <a:latin typeface="Times New Roman" panose="02020603050405020304" pitchFamily="18" charset="0"/>
                        <a:cs typeface="Times New Roman" panose="02020603050405020304" pitchFamily="18" charset="0"/>
                      </a:endParaRPr>
                    </a:p>
                  </a:txBody>
                  <a:tcPr marL="53720" marR="53720" marT="26860" marB="26860" anchor="ctr"/>
                </a:tc>
                <a:tc>
                  <a:txBody>
                    <a:bodyPr/>
                    <a:lstStyle/>
                    <a:p>
                      <a:pPr>
                        <a:buNone/>
                      </a:pPr>
                      <a:r>
                        <a:rPr lang="en-US" sz="1600">
                          <a:latin typeface="Times New Roman" panose="02020603050405020304" pitchFamily="18" charset="0"/>
                          <a:cs typeface="Times New Roman" panose="02020603050405020304" pitchFamily="18" charset="0"/>
                        </a:rPr>
                        <a:t>Affected by operator fatigue and lighting</a:t>
                      </a:r>
                    </a:p>
                  </a:txBody>
                  <a:tcPr marL="53720" marR="53720" marT="26860" marB="26860" anchor="ctr"/>
                </a:tc>
                <a:tc>
                  <a:txBody>
                    <a:bodyPr/>
                    <a:lstStyle/>
                    <a:p>
                      <a:pPr>
                        <a:buNone/>
                      </a:pPr>
                      <a:r>
                        <a:rPr lang="en-IN" sz="1600">
                          <a:latin typeface="Times New Roman" panose="02020603050405020304" pitchFamily="18" charset="0"/>
                          <a:cs typeface="Times New Roman" panose="02020603050405020304" pitchFamily="18" charset="0"/>
                        </a:rPr>
                        <a:t>Sensitive to lighting variation</a:t>
                      </a:r>
                    </a:p>
                  </a:txBody>
                  <a:tcPr marL="53720" marR="53720" marT="26860" marB="26860" anchor="ctr"/>
                </a:tc>
                <a:tc>
                  <a:txBody>
                    <a:bodyPr/>
                    <a:lstStyle/>
                    <a:p>
                      <a:pPr>
                        <a:buNone/>
                      </a:pPr>
                      <a:r>
                        <a:rPr lang="en-US" sz="1600">
                          <a:latin typeface="Times New Roman" panose="02020603050405020304" pitchFamily="18" charset="0"/>
                          <a:cs typeface="Times New Roman" panose="02020603050405020304" pitchFamily="18" charset="0"/>
                        </a:rPr>
                        <a:t>Robust under varying lighting and material conditions</a:t>
                      </a:r>
                    </a:p>
                  </a:txBody>
                  <a:tcPr marL="53720" marR="53720" marT="26860" marB="26860" anchor="ctr"/>
                </a:tc>
                <a:extLst>
                  <a:ext uri="{0D108BD9-81ED-4DB2-BD59-A6C34878D82A}">
                    <a16:rowId xmlns:a16="http://schemas.microsoft.com/office/drawing/2014/main" val="2732205273"/>
                  </a:ext>
                </a:extLst>
              </a:tr>
              <a:tr h="714659">
                <a:tc>
                  <a:txBody>
                    <a:bodyPr/>
                    <a:lstStyle/>
                    <a:p>
                      <a:pPr>
                        <a:buNone/>
                      </a:pPr>
                      <a:r>
                        <a:rPr lang="en-IN" sz="1600" b="1">
                          <a:latin typeface="Times New Roman" panose="02020603050405020304" pitchFamily="18" charset="0"/>
                          <a:cs typeface="Times New Roman" panose="02020603050405020304" pitchFamily="18" charset="0"/>
                        </a:rPr>
                        <a:t>Output Type</a:t>
                      </a:r>
                      <a:endParaRPr lang="en-IN" sz="1600">
                        <a:latin typeface="Times New Roman" panose="02020603050405020304" pitchFamily="18" charset="0"/>
                        <a:cs typeface="Times New Roman" panose="02020603050405020304" pitchFamily="18" charset="0"/>
                      </a:endParaRPr>
                    </a:p>
                  </a:txBody>
                  <a:tcPr marL="53720" marR="53720" marT="26860" marB="26860" anchor="ctr"/>
                </a:tc>
                <a:tc>
                  <a:txBody>
                    <a:bodyPr/>
                    <a:lstStyle/>
                    <a:p>
                      <a:pPr>
                        <a:buNone/>
                      </a:pPr>
                      <a:r>
                        <a:rPr lang="en-IN" sz="1600">
                          <a:latin typeface="Times New Roman" panose="02020603050405020304" pitchFamily="18" charset="0"/>
                          <a:cs typeface="Times New Roman" panose="02020603050405020304" pitchFamily="18" charset="0"/>
                        </a:rPr>
                        <a:t>Manual grading / subjective results</a:t>
                      </a:r>
                    </a:p>
                  </a:txBody>
                  <a:tcPr marL="53720" marR="53720" marT="26860" marB="26860" anchor="ctr"/>
                </a:tc>
                <a:tc>
                  <a:txBody>
                    <a:bodyPr/>
                    <a:lstStyle/>
                    <a:p>
                      <a:pPr>
                        <a:buNone/>
                      </a:pPr>
                      <a:r>
                        <a:rPr lang="en-US" sz="1600">
                          <a:latin typeface="Times New Roman" panose="02020603050405020304" pitchFamily="18" charset="0"/>
                          <a:cs typeface="Times New Roman" panose="02020603050405020304" pitchFamily="18" charset="0"/>
                        </a:rPr>
                        <a:t>Automated detection with limited insight</a:t>
                      </a:r>
                    </a:p>
                  </a:txBody>
                  <a:tcPr marL="53720" marR="53720" marT="26860" marB="26860" anchor="ctr"/>
                </a:tc>
                <a:tc>
                  <a:txBody>
                    <a:bodyPr/>
                    <a:lstStyle/>
                    <a:p>
                      <a:pPr>
                        <a:buNone/>
                      </a:pPr>
                      <a:r>
                        <a:rPr lang="en-US" sz="1600" dirty="0">
                          <a:latin typeface="Times New Roman" panose="02020603050405020304" pitchFamily="18" charset="0"/>
                          <a:cs typeface="Times New Roman" panose="02020603050405020304" pitchFamily="18" charset="0"/>
                        </a:rPr>
                        <a:t>Automated quality grading and detailed defect localization</a:t>
                      </a:r>
                    </a:p>
                  </a:txBody>
                  <a:tcPr marL="53720" marR="53720" marT="26860" marB="26860" anchor="ctr"/>
                </a:tc>
                <a:extLst>
                  <a:ext uri="{0D108BD9-81ED-4DB2-BD59-A6C34878D82A}">
                    <a16:rowId xmlns:a16="http://schemas.microsoft.com/office/drawing/2014/main" val="2605848671"/>
                  </a:ext>
                </a:extLst>
              </a:tr>
            </a:tbl>
          </a:graphicData>
        </a:graphic>
      </p:graphicFrame>
    </p:spTree>
    <p:extLst>
      <p:ext uri="{BB962C8B-B14F-4D97-AF65-F5344CB8AC3E}">
        <p14:creationId xmlns:p14="http://schemas.microsoft.com/office/powerpoint/2010/main" val="862101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957C0-EC16-2F6E-703C-D6C378BC539F}"/>
              </a:ext>
            </a:extLst>
          </p:cNvPr>
          <p:cNvSpPr>
            <a:spLocks noGrp="1"/>
          </p:cNvSpPr>
          <p:nvPr>
            <p:ph type="title"/>
          </p:nvPr>
        </p:nvSpPr>
        <p:spPr/>
        <p:txBody>
          <a:bodyPr>
            <a:normAutofit/>
          </a:bodyPr>
          <a:lstStyle/>
          <a:p>
            <a:r>
              <a:rPr lang="en-US" sz="4000" b="1" u="sng" dirty="0">
                <a:latin typeface="Times New Roman" panose="02020603050405020304" pitchFamily="18" charset="0"/>
                <a:cs typeface="Times New Roman" panose="02020603050405020304" pitchFamily="18" charset="0"/>
              </a:rPr>
              <a:t>PROPOSED SYSTEM:</a:t>
            </a:r>
            <a:endParaRPr lang="en-IN" sz="40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9F6A895-FA4C-43F0-7DCA-23E1BB1E8357}"/>
              </a:ext>
            </a:extLst>
          </p:cNvPr>
          <p:cNvSpPr>
            <a:spLocks noGrp="1"/>
          </p:cNvSpPr>
          <p:nvPr>
            <p:ph idx="1"/>
          </p:nvPr>
        </p:nvSpPr>
        <p:spPr>
          <a:xfrm>
            <a:off x="838200" y="1825625"/>
            <a:ext cx="11000874" cy="4351338"/>
          </a:xfrm>
        </p:spPr>
        <p:txBody>
          <a:bodyPr/>
          <a:lstStyle/>
          <a:p>
            <a:pPr marL="0" indent="0">
              <a:buNone/>
            </a:pPr>
            <a:r>
              <a:rPr lang="en-US" dirty="0">
                <a:latin typeface="Times New Roman" panose="02020603050405020304" pitchFamily="18" charset="0"/>
                <a:cs typeface="Times New Roman" panose="02020603050405020304" pitchFamily="18" charset="0"/>
              </a:rPr>
              <a:t>• Uses an AI-based Vision Transformer model for automated feedstock quality assessment and defect detection.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Captures and analyzes raw material images using OpenCV for real-time, contactless inspection.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Extracts texture, color, and surface features to classify quality levels accurately.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Enhances precision, reduces human effort, and supports Industry 4.0 automation.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Provides a scalable and intelligent solution adaptable to various industrial environments.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7029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54893-FF33-E197-7948-D51F29198C1A}"/>
              </a:ext>
            </a:extLst>
          </p:cNvPr>
          <p:cNvSpPr>
            <a:spLocks noGrp="1"/>
          </p:cNvSpPr>
          <p:nvPr>
            <p:ph type="title"/>
          </p:nvPr>
        </p:nvSpPr>
        <p:spPr>
          <a:xfrm>
            <a:off x="610829" y="365125"/>
            <a:ext cx="10515600" cy="1325563"/>
          </a:xfrm>
        </p:spPr>
        <p:txBody>
          <a:bodyPr>
            <a:normAutofit/>
          </a:bodyPr>
          <a:lstStyle/>
          <a:p>
            <a:r>
              <a:rPr lang="en-IN" sz="4000" b="1" u="sng" dirty="0">
                <a:latin typeface="Times New Roman" panose="02020603050405020304" pitchFamily="18" charset="0"/>
                <a:cs typeface="Times New Roman" panose="02020603050405020304" pitchFamily="18" charset="0"/>
              </a:rPr>
              <a:t>ALGORITHM EXPLANATION:</a:t>
            </a:r>
          </a:p>
        </p:txBody>
      </p:sp>
      <p:sp>
        <p:nvSpPr>
          <p:cNvPr id="4" name="Rectangle 1">
            <a:extLst>
              <a:ext uri="{FF2B5EF4-FFF2-40B4-BE49-F238E27FC236}">
                <a16:creationId xmlns:a16="http://schemas.microsoft.com/office/drawing/2014/main" id="{5A3A60D2-F27F-FE4A-71B9-9BE71C4389FE}"/>
              </a:ext>
            </a:extLst>
          </p:cNvPr>
          <p:cNvSpPr>
            <a:spLocks noGrp="1" noChangeArrowheads="1"/>
          </p:cNvSpPr>
          <p:nvPr>
            <p:ph idx="1"/>
          </p:nvPr>
        </p:nvSpPr>
        <p:spPr bwMode="auto">
          <a:xfrm>
            <a:off x="610829" y="1690688"/>
            <a:ext cx="10970342" cy="4748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dirty="0">
                <a:latin typeface="Times New Roman" panose="02020603050405020304" pitchFamily="18" charset="0"/>
                <a:cs typeface="Times New Roman" panose="02020603050405020304" pitchFamily="18" charset="0"/>
              </a:rPr>
              <a:t>• Use OpenCV to capture raw material images and isolate regions of interest on the feedstock surface.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Analyze surface texture, color variations, and visual inconsistencies to identify possible defects.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Employ Vision Transformer-based deep learning for feature extraction and noise reduction during quality prediction.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Classification output provides the quality grade or defect type of the feedstock.</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Advantages: </a:t>
            </a:r>
            <a:r>
              <a:rPr lang="en-US" dirty="0">
                <a:latin typeface="Times New Roman" panose="02020603050405020304" pitchFamily="18" charset="0"/>
                <a:cs typeface="Times New Roman" panose="02020603050405020304" pitchFamily="18" charset="0"/>
              </a:rPr>
              <a:t>Real-time, contactless, accurate, and compatible with standard industrial cameras.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Limitations: </a:t>
            </a:r>
            <a:r>
              <a:rPr lang="en-US" dirty="0">
                <a:latin typeface="Times New Roman" panose="02020603050405020304" pitchFamily="18" charset="0"/>
                <a:cs typeface="Times New Roman" panose="02020603050405020304" pitchFamily="18" charset="0"/>
              </a:rPr>
              <a:t>Performance can vary under poor illumination, image blur, or extreme surface irregularities.</a:t>
            </a:r>
          </a:p>
        </p:txBody>
      </p:sp>
    </p:spTree>
    <p:extLst>
      <p:ext uri="{BB962C8B-B14F-4D97-AF65-F5344CB8AC3E}">
        <p14:creationId xmlns:p14="http://schemas.microsoft.com/office/powerpoint/2010/main" val="1478910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E61EB-D2CA-348C-BC71-BD2A26D21B79}"/>
              </a:ext>
            </a:extLst>
          </p:cNvPr>
          <p:cNvSpPr>
            <a:spLocks noGrp="1"/>
          </p:cNvSpPr>
          <p:nvPr>
            <p:ph type="title"/>
          </p:nvPr>
        </p:nvSpPr>
        <p:spPr/>
        <p:txBody>
          <a:bodyPr/>
          <a:lstStyle/>
          <a:p>
            <a:r>
              <a:rPr lang="en-IN" b="1" u="sng" dirty="0">
                <a:latin typeface="Times New Roman" panose="02020603050405020304" pitchFamily="18" charset="0"/>
                <a:cs typeface="Times New Roman" panose="02020603050405020304" pitchFamily="18" charset="0"/>
              </a:rPr>
              <a:t>MODEL USAGE:</a:t>
            </a:r>
          </a:p>
        </p:txBody>
      </p:sp>
      <p:sp>
        <p:nvSpPr>
          <p:cNvPr id="4" name="Rectangle 1">
            <a:extLst>
              <a:ext uri="{FF2B5EF4-FFF2-40B4-BE49-F238E27FC236}">
                <a16:creationId xmlns:a16="http://schemas.microsoft.com/office/drawing/2014/main" id="{E267B2E5-3086-1B00-285A-F8CBBB11603E}"/>
              </a:ext>
            </a:extLst>
          </p:cNvPr>
          <p:cNvSpPr>
            <a:spLocks noGrp="1" noChangeArrowheads="1"/>
          </p:cNvSpPr>
          <p:nvPr>
            <p:ph idx="1"/>
          </p:nvPr>
        </p:nvSpPr>
        <p:spPr bwMode="auto">
          <a:xfrm>
            <a:off x="838200" y="2078433"/>
            <a:ext cx="10018294" cy="3197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dirty="0">
                <a:latin typeface="Times New Roman" panose="02020603050405020304" pitchFamily="18" charset="0"/>
                <a:cs typeface="Times New Roman" panose="02020603050405020304" pitchFamily="18" charset="0"/>
              </a:rPr>
              <a:t>• AI models (like Vision Transformers) reduce image noise and enhance surface detail in real time.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Machine learning algorithms detect pixel-level variations caused by defects or irregular textures.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Temporal learning improves consistency and accuracy in continuous quality assessment.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Models adapt to different material types, lighting conditions, and production environments.</a:t>
            </a:r>
          </a:p>
        </p:txBody>
      </p:sp>
    </p:spTree>
    <p:extLst>
      <p:ext uri="{BB962C8B-B14F-4D97-AF65-F5344CB8AC3E}">
        <p14:creationId xmlns:p14="http://schemas.microsoft.com/office/powerpoint/2010/main" val="650820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CFACA-346E-4E57-0E70-88D6F2F0A602}"/>
              </a:ext>
            </a:extLst>
          </p:cNvPr>
          <p:cNvSpPr>
            <a:spLocks noGrp="1"/>
          </p:cNvSpPr>
          <p:nvPr>
            <p:ph type="title"/>
          </p:nvPr>
        </p:nvSpPr>
        <p:spPr/>
        <p:txBody>
          <a:bodyPr>
            <a:normAutofit/>
          </a:bodyPr>
          <a:lstStyle/>
          <a:p>
            <a:r>
              <a:rPr lang="en-IN" sz="4000" b="1" u="sng" dirty="0">
                <a:latin typeface="Times New Roman" panose="02020603050405020304" pitchFamily="18" charset="0"/>
                <a:cs typeface="Times New Roman" panose="02020603050405020304" pitchFamily="18" charset="0"/>
              </a:rPr>
              <a:t>ARCHITECTURE DIAGRAM:</a:t>
            </a:r>
          </a:p>
        </p:txBody>
      </p:sp>
      <p:pic>
        <p:nvPicPr>
          <p:cNvPr id="7" name="Content Placeholder 6" descr="A diagram of a computer&#10;&#10;AI-generated content may be incorrect.">
            <a:extLst>
              <a:ext uri="{FF2B5EF4-FFF2-40B4-BE49-F238E27FC236}">
                <a16:creationId xmlns:a16="http://schemas.microsoft.com/office/drawing/2014/main" id="{682F43D7-9D00-CBF5-B757-05E70C67D71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6986" b="26930"/>
          <a:stretch>
            <a:fillRect/>
          </a:stretch>
        </p:blipFill>
        <p:spPr>
          <a:xfrm>
            <a:off x="635251" y="1459831"/>
            <a:ext cx="10921497" cy="5033044"/>
          </a:xfrm>
        </p:spPr>
      </p:pic>
    </p:spTree>
    <p:extLst>
      <p:ext uri="{BB962C8B-B14F-4D97-AF65-F5344CB8AC3E}">
        <p14:creationId xmlns:p14="http://schemas.microsoft.com/office/powerpoint/2010/main" val="907715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BE084-172E-988F-96F1-74E14CBB33E9}"/>
              </a:ext>
            </a:extLst>
          </p:cNvPr>
          <p:cNvSpPr>
            <a:spLocks noGrp="1"/>
          </p:cNvSpPr>
          <p:nvPr>
            <p:ph type="title"/>
          </p:nvPr>
        </p:nvSpPr>
        <p:spPr/>
        <p:txBody>
          <a:bodyPr>
            <a:normAutofit/>
          </a:bodyPr>
          <a:lstStyle/>
          <a:p>
            <a:r>
              <a:rPr lang="en-IN" sz="4000" b="1" u="sng" dirty="0">
                <a:latin typeface="Times New Roman" panose="02020603050405020304" pitchFamily="18" charset="0"/>
                <a:cs typeface="Times New Roman" panose="02020603050405020304" pitchFamily="18" charset="0"/>
              </a:rPr>
              <a:t>WORKING METHODOLOGY:</a:t>
            </a:r>
          </a:p>
        </p:txBody>
      </p:sp>
      <p:sp>
        <p:nvSpPr>
          <p:cNvPr id="3" name="Content Placeholder 2">
            <a:extLst>
              <a:ext uri="{FF2B5EF4-FFF2-40B4-BE49-F238E27FC236}">
                <a16:creationId xmlns:a16="http://schemas.microsoft.com/office/drawing/2014/main" id="{8CCA6CDE-3BC6-5988-FA79-0E3E624F1C5A}"/>
              </a:ext>
            </a:extLst>
          </p:cNvPr>
          <p:cNvSpPr>
            <a:spLocks noGrp="1"/>
          </p:cNvSpPr>
          <p:nvPr>
            <p:ph idx="1"/>
          </p:nvPr>
        </p:nvSpPr>
        <p:spPr>
          <a:xfrm>
            <a:off x="838200" y="1690688"/>
            <a:ext cx="10515600" cy="4998870"/>
          </a:xfrm>
        </p:spPr>
        <p:txBody>
          <a:bodyPr>
            <a:normAutofit lnSpcReduction="10000"/>
          </a:bodyPr>
          <a:lstStyle/>
          <a:p>
            <a:pPr marL="0" indent="0">
              <a:lnSpc>
                <a:spcPct val="100000"/>
              </a:lnSpc>
              <a:buNone/>
            </a:pPr>
            <a:r>
              <a:rPr lang="en-US" b="1" dirty="0">
                <a:latin typeface="Times New Roman" panose="02020603050405020304" pitchFamily="18" charset="0"/>
                <a:cs typeface="Times New Roman" panose="02020603050405020304" pitchFamily="18" charset="0"/>
              </a:rPr>
              <a:t>Image Capture:</a:t>
            </a:r>
            <a:r>
              <a:rPr lang="en-US" dirty="0">
                <a:latin typeface="Times New Roman" panose="02020603050405020304" pitchFamily="18" charset="0"/>
                <a:cs typeface="Times New Roman" panose="02020603050405020304" pitchFamily="18" charset="0"/>
              </a:rPr>
              <a:t> Camera acquires high-resolution images of the feedstock surface in real time.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Object Detection:</a:t>
            </a:r>
            <a:r>
              <a:rPr lang="en-US" dirty="0">
                <a:latin typeface="Times New Roman" panose="02020603050405020304" pitchFamily="18" charset="0"/>
                <a:cs typeface="Times New Roman" panose="02020603050405020304" pitchFamily="18" charset="0"/>
              </a:rPr>
              <a:t> AI-based vision system identifies and isolates the target raw material region.</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ROI Extraction:</a:t>
            </a:r>
            <a:r>
              <a:rPr lang="en-US" dirty="0">
                <a:latin typeface="Times New Roman" panose="02020603050405020304" pitchFamily="18" charset="0"/>
                <a:cs typeface="Times New Roman" panose="02020603050405020304" pitchFamily="18" charset="0"/>
              </a:rPr>
              <a:t> Selects relevant surface areas for defect and texture pattern analysis.</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Feature Processing:</a:t>
            </a:r>
            <a:r>
              <a:rPr lang="en-US" dirty="0">
                <a:latin typeface="Times New Roman" panose="02020603050405020304" pitchFamily="18" charset="0"/>
                <a:cs typeface="Times New Roman" panose="02020603050405020304" pitchFamily="18" charset="0"/>
              </a:rPr>
              <a:t> Applies preprocessing, filtering, and normalization to remove background noise.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Quality Prediction:</a:t>
            </a:r>
            <a:r>
              <a:rPr lang="en-US" dirty="0">
                <a:latin typeface="Times New Roman" panose="02020603050405020304" pitchFamily="18" charset="0"/>
                <a:cs typeface="Times New Roman" panose="02020603050405020304" pitchFamily="18" charset="0"/>
              </a:rPr>
              <a:t> Vision Transformer model analyzes feature embeddings to classify quality grade or detect defects.</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Output Display:</a:t>
            </a:r>
            <a:r>
              <a:rPr lang="en-US" dirty="0">
                <a:latin typeface="Times New Roman" panose="02020603050405020304" pitchFamily="18" charset="0"/>
                <a:cs typeface="Times New Roman" panose="02020603050405020304" pitchFamily="18" charset="0"/>
              </a:rPr>
              <a:t> Displays real-time quality results and defect locations on an industrial monitoring dashboard.</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9132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9BE8-7093-A813-B126-2E58150D40CF}"/>
              </a:ext>
            </a:extLst>
          </p:cNvPr>
          <p:cNvSpPr>
            <a:spLocks noGrp="1"/>
          </p:cNvSpPr>
          <p:nvPr>
            <p:ph type="title"/>
          </p:nvPr>
        </p:nvSpPr>
        <p:spPr/>
        <p:txBody>
          <a:bodyPr>
            <a:normAutofit/>
          </a:bodyPr>
          <a:lstStyle/>
          <a:p>
            <a:r>
              <a:rPr lang="en-IN" sz="4000" b="1" u="sng" dirty="0">
                <a:latin typeface="Times New Roman" panose="02020603050405020304" pitchFamily="18" charset="0"/>
                <a:cs typeface="Times New Roman" panose="02020603050405020304" pitchFamily="18" charset="0"/>
              </a:rPr>
              <a:t>MODULES DESCRIPTION:</a:t>
            </a:r>
          </a:p>
        </p:txBody>
      </p:sp>
      <p:sp>
        <p:nvSpPr>
          <p:cNvPr id="4" name="Rectangle 1">
            <a:extLst>
              <a:ext uri="{FF2B5EF4-FFF2-40B4-BE49-F238E27FC236}">
                <a16:creationId xmlns:a16="http://schemas.microsoft.com/office/drawing/2014/main" id="{6F0C0C77-6148-DAC3-F5C2-0E7F3699F9E6}"/>
              </a:ext>
            </a:extLst>
          </p:cNvPr>
          <p:cNvSpPr>
            <a:spLocks noGrp="1" noChangeArrowheads="1"/>
          </p:cNvSpPr>
          <p:nvPr>
            <p:ph idx="1"/>
          </p:nvPr>
        </p:nvSpPr>
        <p:spPr bwMode="auto">
          <a:xfrm>
            <a:off x="1030705" y="1690688"/>
            <a:ext cx="10006263" cy="4565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b="1" dirty="0">
                <a:latin typeface="Times New Roman" panose="02020603050405020304" pitchFamily="18" charset="0"/>
                <a:cs typeface="Times New Roman" panose="02020603050405020304" pitchFamily="18" charset="0"/>
              </a:rPr>
              <a:t>Image Capture &amp; Detection:</a:t>
            </a:r>
            <a:r>
              <a:rPr lang="en-US" dirty="0">
                <a:latin typeface="Times New Roman" panose="02020603050405020304" pitchFamily="18" charset="0"/>
                <a:cs typeface="Times New Roman" panose="02020603050405020304" pitchFamily="18" charset="0"/>
              </a:rPr>
              <a:t> Captures and identifies the feedstock surface through camera input.</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ROI Processing:</a:t>
            </a:r>
            <a:r>
              <a:rPr lang="en-US" dirty="0">
                <a:latin typeface="Times New Roman" panose="02020603050405020304" pitchFamily="18" charset="0"/>
                <a:cs typeface="Times New Roman" panose="02020603050405020304" pitchFamily="18" charset="0"/>
              </a:rPr>
              <a:t> Tracks texture and color variations across selected surface regions.</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Filtering:</a:t>
            </a:r>
            <a:r>
              <a:rPr lang="en-US" dirty="0">
                <a:latin typeface="Times New Roman" panose="02020603050405020304" pitchFamily="18" charset="0"/>
                <a:cs typeface="Times New Roman" panose="02020603050405020304" pitchFamily="18" charset="0"/>
              </a:rPr>
              <a:t> Removes background noise and enhances significant visual features.</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Quality Estimation:</a:t>
            </a:r>
            <a:r>
              <a:rPr lang="en-US" dirty="0">
                <a:latin typeface="Times New Roman" panose="02020603050405020304" pitchFamily="18" charset="0"/>
                <a:cs typeface="Times New Roman" panose="02020603050405020304" pitchFamily="18" charset="0"/>
              </a:rPr>
              <a:t> Converts processed visual data into defect probability and quality score.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Visualization:</a:t>
            </a:r>
            <a:r>
              <a:rPr lang="en-US" dirty="0">
                <a:latin typeface="Times New Roman" panose="02020603050405020304" pitchFamily="18" charset="0"/>
                <a:cs typeface="Times New Roman" panose="02020603050405020304" pitchFamily="18" charset="0"/>
              </a:rPr>
              <a:t> Displays real-time quality grading and defect mapping on the system interface.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914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6D85D-7B40-3D79-7184-160EBE0A0D8F}"/>
              </a:ext>
            </a:extLst>
          </p:cNvPr>
          <p:cNvSpPr>
            <a:spLocks noGrp="1"/>
          </p:cNvSpPr>
          <p:nvPr>
            <p:ph type="title"/>
          </p:nvPr>
        </p:nvSpPr>
        <p:spPr>
          <a:xfrm>
            <a:off x="838200" y="152860"/>
            <a:ext cx="10515600" cy="1325563"/>
          </a:xfrm>
        </p:spPr>
        <p:txBody>
          <a:bodyPr>
            <a:normAutofit/>
          </a:bodyPr>
          <a:lstStyle/>
          <a:p>
            <a:r>
              <a:rPr lang="en-IN" sz="4000" b="1" u="sng" dirty="0">
                <a:latin typeface="Times New Roman" panose="02020603050405020304" pitchFamily="18" charset="0"/>
                <a:cs typeface="Times New Roman" panose="02020603050405020304" pitchFamily="18" charset="0"/>
              </a:rPr>
              <a:t>ADVANTAGES:</a:t>
            </a:r>
          </a:p>
        </p:txBody>
      </p:sp>
      <p:sp>
        <p:nvSpPr>
          <p:cNvPr id="4" name="Rectangle 1">
            <a:extLst>
              <a:ext uri="{FF2B5EF4-FFF2-40B4-BE49-F238E27FC236}">
                <a16:creationId xmlns:a16="http://schemas.microsoft.com/office/drawing/2014/main" id="{3C7BD279-9756-D35D-F5DA-16222FEA6FE3}"/>
              </a:ext>
            </a:extLst>
          </p:cNvPr>
          <p:cNvSpPr>
            <a:spLocks noGrp="1" noChangeArrowheads="1"/>
          </p:cNvSpPr>
          <p:nvPr>
            <p:ph idx="1"/>
          </p:nvPr>
        </p:nvSpPr>
        <p:spPr bwMode="auto">
          <a:xfrm>
            <a:off x="838200" y="1478423"/>
            <a:ext cx="1083217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dirty="0">
                <a:latin typeface="Times New Roman" panose="02020603050405020304" pitchFamily="18" charset="0"/>
                <a:cs typeface="Times New Roman" panose="02020603050405020304" pitchFamily="18" charset="0"/>
              </a:rPr>
              <a:t>• Provides </a:t>
            </a:r>
            <a:r>
              <a:rPr lang="en-US" b="1" dirty="0">
                <a:latin typeface="Times New Roman" panose="02020603050405020304" pitchFamily="18" charset="0"/>
                <a:cs typeface="Times New Roman" panose="02020603050405020304" pitchFamily="18" charset="0"/>
              </a:rPr>
              <a:t>higher accuracy</a:t>
            </a:r>
            <a:r>
              <a:rPr lang="en-US" dirty="0">
                <a:latin typeface="Times New Roman" panose="02020603050405020304" pitchFamily="18" charset="0"/>
                <a:cs typeface="Times New Roman" panose="02020603050405020304" pitchFamily="18" charset="0"/>
              </a:rPr>
              <a:t> through Vision Transformer-based feature extraction compared to traditional CNN models.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Performs </a:t>
            </a:r>
            <a:r>
              <a:rPr lang="en-US" b="1" dirty="0">
                <a:latin typeface="Times New Roman" panose="02020603050405020304" pitchFamily="18" charset="0"/>
                <a:cs typeface="Times New Roman" panose="02020603050405020304" pitchFamily="18" charset="0"/>
              </a:rPr>
              <a:t>real-time and contactless inspection</a:t>
            </a:r>
            <a:r>
              <a:rPr lang="en-US" dirty="0">
                <a:latin typeface="Times New Roman" panose="02020603050405020304" pitchFamily="18" charset="0"/>
                <a:cs typeface="Times New Roman" panose="02020603050405020304" pitchFamily="18" charset="0"/>
              </a:rPr>
              <a:t>, reducing manual effort and human error.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Maintains </a:t>
            </a:r>
            <a:r>
              <a:rPr lang="en-US" b="1" dirty="0">
                <a:latin typeface="Times New Roman" panose="02020603050405020304" pitchFamily="18" charset="0"/>
                <a:cs typeface="Times New Roman" panose="02020603050405020304" pitchFamily="18" charset="0"/>
              </a:rPr>
              <a:t>consistent performance</a:t>
            </a:r>
            <a:r>
              <a:rPr lang="en-US" dirty="0">
                <a:latin typeface="Times New Roman" panose="02020603050405020304" pitchFamily="18" charset="0"/>
                <a:cs typeface="Times New Roman" panose="02020603050405020304" pitchFamily="18" charset="0"/>
              </a:rPr>
              <a:t> under varying lighting and environmental conditions.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Offers </a:t>
            </a:r>
            <a:r>
              <a:rPr lang="en-US" b="1" dirty="0">
                <a:latin typeface="Times New Roman" panose="02020603050405020304" pitchFamily="18" charset="0"/>
                <a:cs typeface="Times New Roman" panose="02020603050405020304" pitchFamily="18" charset="0"/>
              </a:rPr>
              <a:t>automated and scalable</a:t>
            </a:r>
            <a:r>
              <a:rPr lang="en-US" dirty="0">
                <a:latin typeface="Times New Roman" panose="02020603050405020304" pitchFamily="18" charset="0"/>
                <a:cs typeface="Times New Roman" panose="02020603050405020304" pitchFamily="18" charset="0"/>
              </a:rPr>
              <a:t> operation suitable for Industry 4.0 production systems.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Reduces dependency on </a:t>
            </a:r>
            <a:r>
              <a:rPr lang="en-US" b="1" dirty="0">
                <a:latin typeface="Times New Roman" panose="02020603050405020304" pitchFamily="18" charset="0"/>
                <a:cs typeface="Times New Roman" panose="02020603050405020304" pitchFamily="18" charset="0"/>
              </a:rPr>
              <a:t>manual calibration and supervision</a:t>
            </a:r>
            <a:r>
              <a:rPr lang="en-US" dirty="0">
                <a:latin typeface="Times New Roman" panose="02020603050405020304" pitchFamily="18" charset="0"/>
                <a:cs typeface="Times New Roman" panose="02020603050405020304" pitchFamily="18" charset="0"/>
              </a:rPr>
              <a:t> required in older systems.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Ensures </a:t>
            </a:r>
            <a:r>
              <a:rPr lang="en-US" b="1" dirty="0">
                <a:latin typeface="Times New Roman" panose="02020603050405020304" pitchFamily="18" charset="0"/>
                <a:cs typeface="Times New Roman" panose="02020603050405020304" pitchFamily="18" charset="0"/>
              </a:rPr>
              <a:t>faster processing and better defect localization</a:t>
            </a:r>
            <a:r>
              <a:rPr lang="en-US" dirty="0">
                <a:latin typeface="Times New Roman" panose="02020603050405020304" pitchFamily="18" charset="0"/>
                <a:cs typeface="Times New Roman" panose="02020603050405020304" pitchFamily="18" charset="0"/>
              </a:rPr>
              <a:t> for improved quality control.</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8277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FCAF-D70A-7EE4-C63D-72C9110CEC09}"/>
              </a:ext>
            </a:extLst>
          </p:cNvPr>
          <p:cNvSpPr>
            <a:spLocks noGrp="1"/>
          </p:cNvSpPr>
          <p:nvPr>
            <p:ph type="title"/>
          </p:nvPr>
        </p:nvSpPr>
        <p:spPr>
          <a:xfrm>
            <a:off x="419607" y="-116138"/>
            <a:ext cx="10515600" cy="1325563"/>
          </a:xfrm>
        </p:spPr>
        <p:txBody>
          <a:bodyPr>
            <a:normAutofit/>
          </a:bodyPr>
          <a:lstStyle/>
          <a:p>
            <a:r>
              <a:rPr lang="en-IN" sz="4000" b="1" u="sng" dirty="0">
                <a:latin typeface="Times New Roman" panose="02020603050405020304" pitchFamily="18" charset="0"/>
                <a:cs typeface="Times New Roman" panose="02020603050405020304" pitchFamily="18" charset="0"/>
              </a:rPr>
              <a:t>RESULT SCREENSHOOT(DEMO):</a:t>
            </a:r>
          </a:p>
        </p:txBody>
      </p:sp>
      <p:pic>
        <p:nvPicPr>
          <p:cNvPr id="8" name="Content Placeholder 7" descr="A screenshot of a computer program&#10;&#10;AI-generated content may be incorrect.">
            <a:extLst>
              <a:ext uri="{FF2B5EF4-FFF2-40B4-BE49-F238E27FC236}">
                <a16:creationId xmlns:a16="http://schemas.microsoft.com/office/drawing/2014/main" id="{55D49896-0ED1-F46A-5B02-43F7DB2FFF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7943" y="1481902"/>
            <a:ext cx="4745951" cy="5144561"/>
          </a:xfrm>
        </p:spPr>
      </p:pic>
      <p:sp>
        <p:nvSpPr>
          <p:cNvPr id="5" name="TextBox 4">
            <a:extLst>
              <a:ext uri="{FF2B5EF4-FFF2-40B4-BE49-F238E27FC236}">
                <a16:creationId xmlns:a16="http://schemas.microsoft.com/office/drawing/2014/main" id="{89B80FB5-75F3-ECA3-8A4E-D3A8A19938E8}"/>
              </a:ext>
            </a:extLst>
          </p:cNvPr>
          <p:cNvSpPr txBox="1"/>
          <p:nvPr/>
        </p:nvSpPr>
        <p:spPr>
          <a:xfrm>
            <a:off x="547944" y="1024759"/>
            <a:ext cx="9301909" cy="400110"/>
          </a:xfrm>
          <a:prstGeom prst="rect">
            <a:avLst/>
          </a:prstGeom>
          <a:noFill/>
        </p:spPr>
        <p:txBody>
          <a:bodyPr wrap="square" rtlCol="0">
            <a:spAutoFit/>
          </a:bodyPr>
          <a:lstStyle/>
          <a:p>
            <a:r>
              <a:rPr lang="en-US" sz="2000" b="1" u="sng" dirty="0">
                <a:latin typeface="Times New Roman" panose="02020603050405020304" pitchFamily="18" charset="0"/>
                <a:cs typeface="Times New Roman" panose="02020603050405020304" pitchFamily="18" charset="0"/>
              </a:rPr>
              <a:t>CODE:</a:t>
            </a:r>
            <a:endParaRPr lang="en-IN" sz="2000" b="1" u="sng" dirty="0">
              <a:latin typeface="Times New Roman" panose="02020603050405020304" pitchFamily="18" charset="0"/>
              <a:cs typeface="Times New Roman" panose="02020603050405020304" pitchFamily="18" charset="0"/>
            </a:endParaRPr>
          </a:p>
        </p:txBody>
      </p:sp>
      <p:pic>
        <p:nvPicPr>
          <p:cNvPr id="10" name="Picture 9" descr="A screenshot of a computer program&#10;&#10;AI-generated content may be incorrect.">
            <a:extLst>
              <a:ext uri="{FF2B5EF4-FFF2-40B4-BE49-F238E27FC236}">
                <a16:creationId xmlns:a16="http://schemas.microsoft.com/office/drawing/2014/main" id="{E5E5C043-E970-FEF4-6ABD-875DCF5D25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9256" y="1481902"/>
            <a:ext cx="4745951" cy="5144561"/>
          </a:xfrm>
          <a:prstGeom prst="rect">
            <a:avLst/>
          </a:prstGeom>
        </p:spPr>
      </p:pic>
    </p:spTree>
    <p:extLst>
      <p:ext uri="{BB962C8B-B14F-4D97-AF65-F5344CB8AC3E}">
        <p14:creationId xmlns:p14="http://schemas.microsoft.com/office/powerpoint/2010/main" val="694862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E0307-99C8-0BDD-A4E3-81D1AACB2B95}"/>
              </a:ext>
            </a:extLst>
          </p:cNvPr>
          <p:cNvSpPr>
            <a:spLocks noGrp="1"/>
          </p:cNvSpPr>
          <p:nvPr>
            <p:ph type="title"/>
          </p:nvPr>
        </p:nvSpPr>
        <p:spPr>
          <a:xfrm>
            <a:off x="517358" y="284914"/>
            <a:ext cx="10515600" cy="1325563"/>
          </a:xfrm>
        </p:spPr>
        <p:txBody>
          <a:bodyPr>
            <a:normAutofit/>
          </a:bodyPr>
          <a:lstStyle/>
          <a:p>
            <a:r>
              <a:rPr lang="en-IN" sz="4000" b="1" u="sng" dirty="0">
                <a:latin typeface="Times New Roman" panose="02020603050405020304" pitchFamily="18" charset="0"/>
                <a:cs typeface="Times New Roman" panose="02020603050405020304" pitchFamily="18" charset="0"/>
              </a:rPr>
              <a:t>RESULT SCREENSHOOT(DEMO):</a:t>
            </a:r>
            <a:endParaRPr lang="en-IN" sz="4000" dirty="0"/>
          </a:p>
        </p:txBody>
      </p:sp>
      <p:pic>
        <p:nvPicPr>
          <p:cNvPr id="5" name="Content Placeholder 4" descr="A screenshot of a computer&#10;&#10;AI-generated content may be incorrect.">
            <a:extLst>
              <a:ext uri="{FF2B5EF4-FFF2-40B4-BE49-F238E27FC236}">
                <a16:creationId xmlns:a16="http://schemas.microsoft.com/office/drawing/2014/main" id="{7D103BF4-6FF7-9B9D-3C27-644027A26A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7358" y="1857709"/>
            <a:ext cx="4816616" cy="4351338"/>
          </a:xfrm>
        </p:spPr>
      </p:pic>
      <p:sp>
        <p:nvSpPr>
          <p:cNvPr id="6" name="TextBox 5">
            <a:extLst>
              <a:ext uri="{FF2B5EF4-FFF2-40B4-BE49-F238E27FC236}">
                <a16:creationId xmlns:a16="http://schemas.microsoft.com/office/drawing/2014/main" id="{4DB6164B-1331-4394-2657-5EA2A4E1B922}"/>
              </a:ext>
            </a:extLst>
          </p:cNvPr>
          <p:cNvSpPr txBox="1"/>
          <p:nvPr/>
        </p:nvSpPr>
        <p:spPr>
          <a:xfrm>
            <a:off x="517358" y="1206118"/>
            <a:ext cx="6797842" cy="400110"/>
          </a:xfrm>
          <a:prstGeom prst="rect">
            <a:avLst/>
          </a:prstGeom>
          <a:noFill/>
        </p:spPr>
        <p:txBody>
          <a:bodyPr wrap="square" rtlCol="0">
            <a:spAutoFit/>
          </a:bodyPr>
          <a:lstStyle/>
          <a:p>
            <a:r>
              <a:rPr lang="en-US" sz="2000" b="1" u="sng" dirty="0">
                <a:latin typeface="Times New Roman" panose="02020603050405020304" pitchFamily="18" charset="0"/>
                <a:cs typeface="Times New Roman" panose="02020603050405020304" pitchFamily="18" charset="0"/>
              </a:rPr>
              <a:t>OUTPUT:</a:t>
            </a:r>
            <a:endParaRPr lang="en-IN" sz="2000" b="1" u="sng" dirty="0">
              <a:latin typeface="Times New Roman" panose="02020603050405020304" pitchFamily="18" charset="0"/>
              <a:cs typeface="Times New Roman" panose="02020603050405020304" pitchFamily="18" charset="0"/>
            </a:endParaRPr>
          </a:p>
        </p:txBody>
      </p:sp>
      <p:pic>
        <p:nvPicPr>
          <p:cNvPr id="8" name="Picture 7" descr="A screenshot of a computer&#10;&#10;AI-generated content may be incorrect.">
            <a:extLst>
              <a:ext uri="{FF2B5EF4-FFF2-40B4-BE49-F238E27FC236}">
                <a16:creationId xmlns:a16="http://schemas.microsoft.com/office/drawing/2014/main" id="{A89AA8D2-255B-E27C-4BC5-69BF671076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8506" y="1857709"/>
            <a:ext cx="5017168" cy="4351338"/>
          </a:xfrm>
          <a:prstGeom prst="rect">
            <a:avLst/>
          </a:prstGeom>
        </p:spPr>
      </p:pic>
    </p:spTree>
    <p:extLst>
      <p:ext uri="{BB962C8B-B14F-4D97-AF65-F5344CB8AC3E}">
        <p14:creationId xmlns:p14="http://schemas.microsoft.com/office/powerpoint/2010/main" val="2359753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6BE1B-14BB-1304-5DC1-1522A15F52E5}"/>
              </a:ext>
            </a:extLst>
          </p:cNvPr>
          <p:cNvSpPr>
            <a:spLocks noGrp="1"/>
          </p:cNvSpPr>
          <p:nvPr>
            <p:ph type="title"/>
          </p:nvPr>
        </p:nvSpPr>
        <p:spPr>
          <a:xfrm>
            <a:off x="437605" y="-79012"/>
            <a:ext cx="10515600" cy="1325563"/>
          </a:xfrm>
        </p:spPr>
        <p:txBody>
          <a:bodyPr>
            <a:normAutofit/>
          </a:bodyPr>
          <a:lstStyle/>
          <a:p>
            <a:r>
              <a:rPr lang="en-US" sz="4000" b="1" u="sng" dirty="0">
                <a:latin typeface="Times New Roman" panose="02020603050405020304" pitchFamily="18" charset="0"/>
                <a:cs typeface="Times New Roman" panose="02020603050405020304" pitchFamily="18" charset="0"/>
              </a:rPr>
              <a:t>DATASET EXPLANAION: </a:t>
            </a:r>
            <a:endParaRPr lang="en-IN" sz="40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5988069-7C94-E735-06D4-C7C7B3896410}"/>
              </a:ext>
            </a:extLst>
          </p:cNvPr>
          <p:cNvSpPr>
            <a:spLocks noGrp="1"/>
          </p:cNvSpPr>
          <p:nvPr>
            <p:ph idx="1"/>
          </p:nvPr>
        </p:nvSpPr>
        <p:spPr>
          <a:xfrm>
            <a:off x="437604" y="1163773"/>
            <a:ext cx="11475721" cy="4351338"/>
          </a:xfrm>
        </p:spPr>
        <p:txBody>
          <a:bodyPr>
            <a:normAutofit/>
          </a:bodyPr>
          <a:lstStyle/>
          <a:p>
            <a:pPr marL="0" indent="0">
              <a:buNone/>
            </a:pPr>
            <a:r>
              <a:rPr lang="en-US" b="1" u="sng" dirty="0">
                <a:latin typeface="Times New Roman" panose="02020603050405020304" pitchFamily="18" charset="0"/>
                <a:cs typeface="Times New Roman" panose="02020603050405020304" pitchFamily="18" charset="0"/>
              </a:rPr>
              <a:t>Source: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Kaggle – </a:t>
            </a:r>
            <a:r>
              <a:rPr lang="en-US" i="1" dirty="0">
                <a:latin typeface="Times New Roman" panose="02020603050405020304" pitchFamily="18" charset="0"/>
                <a:cs typeface="Times New Roman" panose="02020603050405020304" pitchFamily="18" charset="0"/>
              </a:rPr>
              <a:t>Severstal: Steel Defect Detection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hlinkClick r:id="rId2"/>
              </a:rPr>
              <a:t>https://www.kaggle.com/competitions/severstal-steel-defect-detection/data</a:t>
            </a:r>
            <a:endParaRPr lang="en-US" dirty="0">
              <a:latin typeface="Times New Roman" panose="02020603050405020304" pitchFamily="18" charset="0"/>
              <a:cs typeface="Times New Roman" panose="02020603050405020304" pitchFamily="18" charset="0"/>
            </a:endParaRPr>
          </a:p>
          <a:p>
            <a:pPr marL="0" indent="0">
              <a:buNone/>
            </a:pPr>
            <a:r>
              <a:rPr lang="en-US" b="1" u="sng" dirty="0">
                <a:latin typeface="Times New Roman" panose="02020603050405020304" pitchFamily="18" charset="0"/>
                <a:cs typeface="Times New Roman" panose="02020603050405020304" pitchFamily="18" charset="0"/>
              </a:rPr>
              <a:t>Explanation: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dataset contains high-resolution images of steel surfaces collected from an industrial production line. Each image is annotated with four types of surface defects such as cracks, inclusions, pits, and rolled-in scales. It is used for defect detection and segmentation tasks, helping train AI models to automatically identify and localize minute defects in raw materials—enhancing quality control and automation in Industry 4.0 manufacturing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9070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A9369-6A23-E01E-41E6-328E4114E490}"/>
              </a:ext>
            </a:extLst>
          </p:cNvPr>
          <p:cNvSpPr>
            <a:spLocks noGrp="1"/>
          </p:cNvSpPr>
          <p:nvPr>
            <p:ph type="title"/>
          </p:nvPr>
        </p:nvSpPr>
        <p:spPr>
          <a:xfrm>
            <a:off x="542109" y="0"/>
            <a:ext cx="10515600" cy="1325563"/>
          </a:xfrm>
        </p:spPr>
        <p:txBody>
          <a:bodyPr/>
          <a:lstStyle/>
          <a:p>
            <a:r>
              <a:rPr kumimoji="0" lang="en-US" sz="4000" b="1" i="0" u="sng"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DATASET EXPLANAION: </a:t>
            </a:r>
            <a:endParaRPr lang="en-IN" dirty="0"/>
          </a:p>
        </p:txBody>
      </p:sp>
      <p:sp>
        <p:nvSpPr>
          <p:cNvPr id="3" name="Content Placeholder 2">
            <a:extLst>
              <a:ext uri="{FF2B5EF4-FFF2-40B4-BE49-F238E27FC236}">
                <a16:creationId xmlns:a16="http://schemas.microsoft.com/office/drawing/2014/main" id="{C5CA2EB2-ACA4-0771-4BDB-85F135593AF2}"/>
              </a:ext>
            </a:extLst>
          </p:cNvPr>
          <p:cNvSpPr>
            <a:spLocks noGrp="1"/>
          </p:cNvSpPr>
          <p:nvPr>
            <p:ph idx="1"/>
          </p:nvPr>
        </p:nvSpPr>
        <p:spPr>
          <a:xfrm>
            <a:off x="838200" y="1538243"/>
            <a:ext cx="10515600" cy="4351338"/>
          </a:xfrm>
        </p:spPr>
        <p:txBody>
          <a:bodyPr/>
          <a:lstStyle/>
          <a:p>
            <a:r>
              <a:rPr lang="en-IN" b="1" dirty="0">
                <a:latin typeface="Times New Roman" panose="02020603050405020304" pitchFamily="18" charset="0"/>
                <a:cs typeface="Times New Roman" panose="02020603050405020304" pitchFamily="18" charset="0"/>
              </a:rPr>
              <a:t>Domain:</a:t>
            </a:r>
            <a:r>
              <a:rPr lang="en-IN" dirty="0">
                <a:latin typeface="Times New Roman" panose="02020603050405020304" pitchFamily="18" charset="0"/>
                <a:cs typeface="Times New Roman" panose="02020603050405020304" pitchFamily="18" charset="0"/>
              </a:rPr>
              <a:t> Industrial surface inspection (steel manufacturing)</a:t>
            </a:r>
          </a:p>
          <a:p>
            <a:r>
              <a:rPr lang="en-IN" b="1" dirty="0">
                <a:latin typeface="Times New Roman" panose="02020603050405020304" pitchFamily="18" charset="0"/>
                <a:cs typeface="Times New Roman" panose="02020603050405020304" pitchFamily="18" charset="0"/>
              </a:rPr>
              <a:t>Images:</a:t>
            </a:r>
            <a:r>
              <a:rPr lang="en-IN" dirty="0">
                <a:latin typeface="Times New Roman" panose="02020603050405020304" pitchFamily="18" charset="0"/>
                <a:cs typeface="Times New Roman" panose="02020603050405020304" pitchFamily="18" charset="0"/>
              </a:rPr>
              <a:t> ~12,568 high-resolution steel surface images</a:t>
            </a:r>
          </a:p>
          <a:p>
            <a:r>
              <a:rPr lang="en-IN" b="1" dirty="0">
                <a:latin typeface="Times New Roman" panose="02020603050405020304" pitchFamily="18" charset="0"/>
                <a:cs typeface="Times New Roman" panose="02020603050405020304" pitchFamily="18" charset="0"/>
              </a:rPr>
              <a:t>Image Size:</a:t>
            </a:r>
            <a:r>
              <a:rPr lang="en-IN" dirty="0">
                <a:latin typeface="Times New Roman" panose="02020603050405020304" pitchFamily="18" charset="0"/>
                <a:cs typeface="Times New Roman" panose="02020603050405020304" pitchFamily="18" charset="0"/>
              </a:rPr>
              <a:t> 256 × 1600 pixels (RGB)</a:t>
            </a:r>
          </a:p>
          <a:p>
            <a:r>
              <a:rPr lang="en-IN" b="1" dirty="0">
                <a:latin typeface="Times New Roman" panose="02020603050405020304" pitchFamily="18" charset="0"/>
                <a:cs typeface="Times New Roman" panose="02020603050405020304" pitchFamily="18" charset="0"/>
              </a:rPr>
              <a:t>Defect Types:</a:t>
            </a:r>
            <a:r>
              <a:rPr lang="en-IN" dirty="0">
                <a:latin typeface="Times New Roman" panose="02020603050405020304" pitchFamily="18" charset="0"/>
                <a:cs typeface="Times New Roman" panose="02020603050405020304" pitchFamily="18" charset="0"/>
              </a:rPr>
              <a:t> 4 classes – cracks, inclusions, pits, rolled-in scale</a:t>
            </a:r>
          </a:p>
          <a:p>
            <a:r>
              <a:rPr lang="en-IN" b="1" dirty="0">
                <a:latin typeface="Times New Roman" panose="02020603050405020304" pitchFamily="18" charset="0"/>
                <a:cs typeface="Times New Roman" panose="02020603050405020304" pitchFamily="18" charset="0"/>
              </a:rPr>
              <a:t>Annotations:</a:t>
            </a:r>
            <a:r>
              <a:rPr lang="en-IN" dirty="0">
                <a:latin typeface="Times New Roman" panose="02020603050405020304" pitchFamily="18" charset="0"/>
                <a:cs typeface="Times New Roman" panose="02020603050405020304" pitchFamily="18" charset="0"/>
              </a:rPr>
              <a:t> Pixel-wise defect masks (RLE encoded)</a:t>
            </a:r>
          </a:p>
          <a:p>
            <a:r>
              <a:rPr lang="en-IN" b="1" dirty="0">
                <a:latin typeface="Times New Roman" panose="02020603050405020304" pitchFamily="18" charset="0"/>
                <a:cs typeface="Times New Roman" panose="02020603050405020304" pitchFamily="18" charset="0"/>
              </a:rPr>
              <a:t>Goal:</a:t>
            </a:r>
            <a:r>
              <a:rPr lang="en-IN" dirty="0">
                <a:latin typeface="Times New Roman" panose="02020603050405020304" pitchFamily="18" charset="0"/>
                <a:cs typeface="Times New Roman" panose="02020603050405020304" pitchFamily="18" charset="0"/>
              </a:rPr>
              <a:t> Detect and localize surface defects using deep learning</a:t>
            </a:r>
          </a:p>
          <a:p>
            <a:r>
              <a:rPr lang="en-IN" b="1" dirty="0">
                <a:latin typeface="Times New Roman" panose="02020603050405020304" pitchFamily="18" charset="0"/>
                <a:cs typeface="Times New Roman" panose="02020603050405020304" pitchFamily="18" charset="0"/>
              </a:rPr>
              <a:t>Project Use:</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Train model for </a:t>
            </a:r>
            <a:r>
              <a:rPr lang="en-IN" b="1" dirty="0">
                <a:latin typeface="Times New Roman" panose="02020603050405020304" pitchFamily="18" charset="0"/>
                <a:cs typeface="Times New Roman" panose="02020603050405020304" pitchFamily="18" charset="0"/>
              </a:rPr>
              <a:t>feedstock quality assessment</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Enable </a:t>
            </a:r>
            <a:r>
              <a:rPr lang="en-IN" b="1" dirty="0">
                <a:latin typeface="Times New Roman" panose="02020603050405020304" pitchFamily="18" charset="0"/>
                <a:cs typeface="Times New Roman" panose="02020603050405020304" pitchFamily="18" charset="0"/>
              </a:rPr>
              <a:t>automated defect detection</a:t>
            </a:r>
            <a:r>
              <a:rPr lang="en-IN" dirty="0">
                <a:latin typeface="Times New Roman" panose="02020603050405020304" pitchFamily="18" charset="0"/>
                <a:cs typeface="Times New Roman" panose="02020603050405020304" pitchFamily="18" charset="0"/>
              </a:rPr>
              <a:t> in Industry 4.0 systems</a:t>
            </a:r>
          </a:p>
          <a:p>
            <a:pPr marL="0" indent="0">
              <a:buNone/>
            </a:pPr>
            <a:endParaRPr lang="en-IN" dirty="0"/>
          </a:p>
        </p:txBody>
      </p:sp>
    </p:spTree>
    <p:extLst>
      <p:ext uri="{BB962C8B-B14F-4D97-AF65-F5344CB8AC3E}">
        <p14:creationId xmlns:p14="http://schemas.microsoft.com/office/powerpoint/2010/main" val="27614391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2318" y="134909"/>
            <a:ext cx="10515600" cy="1583359"/>
          </a:xfrm>
        </p:spPr>
        <p:txBody>
          <a:bodyPr>
            <a:normAutofit/>
          </a:bodyPr>
          <a:lstStyle/>
          <a:p>
            <a:r>
              <a:rPr lang="en-IN" sz="4000" b="1" u="sng" dirty="0">
                <a:latin typeface="Times New Roman" panose="02020603050405020304" pitchFamily="18" charset="0"/>
                <a:cs typeface="Times New Roman" panose="02020603050405020304" pitchFamily="18" charset="0"/>
              </a:rPr>
              <a:t>CONCLUSION:</a:t>
            </a:r>
            <a:endParaRPr lang="en-US" sz="4000"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75262" y="1718267"/>
            <a:ext cx="10944420" cy="4810869"/>
          </a:xfrm>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The proposed system delivers a fully automated, non-contact, real-time solution for feedstock quality assessment and defect detection using Vision Transformer-based deep learning. By eliminating the need for manual inspection and physical sensors, the system enhances operational efficiency, hygiene, and process reliability within industrial environments. It ensures consistent quality evaluation across varying lighting and material conditions, providing faster and more precise results than traditional methods. Furthermore, its scalable architecture allows seamless integration with AI-driven production systems and Industry 4.0 frameworks, enabling future expansion toward predictive maintenance, process optimization, and intelligent manufacturing analytics.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C898D-B1FF-9E72-759E-4E72B520545C}"/>
              </a:ext>
            </a:extLst>
          </p:cNvPr>
          <p:cNvSpPr>
            <a:spLocks noGrp="1"/>
          </p:cNvSpPr>
          <p:nvPr>
            <p:ph type="title"/>
          </p:nvPr>
        </p:nvSpPr>
        <p:spPr>
          <a:xfrm>
            <a:off x="621840" y="224589"/>
            <a:ext cx="10515600" cy="1144740"/>
          </a:xfrm>
        </p:spPr>
        <p:txBody>
          <a:bodyPr>
            <a:normAutofit/>
          </a:bodyPr>
          <a:lstStyle/>
          <a:p>
            <a:r>
              <a:rPr lang="en-IN" b="1" u="sng" dirty="0">
                <a:latin typeface="Times New Roman" panose="02020603050405020304" pitchFamily="18" charset="0"/>
                <a:cs typeface="Times New Roman" panose="02020603050405020304" pitchFamily="18" charset="0"/>
              </a:rPr>
              <a:t>REFERENCE:</a:t>
            </a:r>
            <a:endParaRPr lang="en-US" b="1"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6C4715A-0F1A-9E04-3DFA-34F9CB755D8C}"/>
              </a:ext>
            </a:extLst>
          </p:cNvPr>
          <p:cNvSpPr>
            <a:spLocks noGrp="1" noChangeArrowheads="1"/>
          </p:cNvSpPr>
          <p:nvPr>
            <p:ph idx="1"/>
          </p:nvPr>
        </p:nvSpPr>
        <p:spPr bwMode="auto">
          <a:xfrm>
            <a:off x="621840" y="1369329"/>
            <a:ext cx="11345571"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A. Dosovitskiy et al.</a:t>
            </a:r>
            <a:r>
              <a:rPr lang="en-US" altLang="en-US" sz="2400" dirty="0">
                <a:latin typeface="Times New Roman" panose="02020603050405020304" pitchFamily="18" charset="0"/>
                <a:cs typeface="Times New Roman" panose="02020603050405020304" pitchFamily="18" charset="0"/>
              </a:rPr>
              <a:t>, </a:t>
            </a:r>
            <a:r>
              <a:rPr lang="en-US" altLang="en-US" sz="2400" i="1" dirty="0">
                <a:latin typeface="Times New Roman" panose="02020603050405020304" pitchFamily="18" charset="0"/>
                <a:cs typeface="Times New Roman" panose="02020603050405020304" pitchFamily="18" charset="0"/>
              </a:rPr>
              <a:t>“An Image is Worth 16x16 Words: Transformers for Image Recognition at Scale,”</a:t>
            </a:r>
            <a:r>
              <a:rPr lang="en-US" altLang="en-US" sz="2400" dirty="0">
                <a:latin typeface="Times New Roman" panose="02020603050405020304" pitchFamily="18" charset="0"/>
                <a:cs typeface="Times New Roman" panose="02020603050405020304" pitchFamily="18" charset="0"/>
              </a:rPr>
              <a:t> International Conference on Learning Representations (ICLR), 2021.</a:t>
            </a:r>
            <a:br>
              <a:rPr lang="en-US" altLang="en-US" sz="2400" dirty="0">
                <a:latin typeface="Times New Roman" panose="02020603050405020304" pitchFamily="18" charset="0"/>
                <a:cs typeface="Times New Roman" panose="02020603050405020304" pitchFamily="18" charset="0"/>
              </a:rPr>
            </a:br>
            <a:r>
              <a:rPr lang="en-US" altLang="en-US" sz="2400" i="1" dirty="0">
                <a:latin typeface="Times New Roman" panose="02020603050405020304" pitchFamily="18" charset="0"/>
                <a:cs typeface="Times New Roman" panose="02020603050405020304" pitchFamily="18" charset="0"/>
              </a:rPr>
              <a:t>(Introduced the Vision Transformer (ViT) model, forming the foundation for transformer-based visual inspection systems.)</a:t>
            </a:r>
            <a:endParaRPr lang="en-US" altLang="en-US" sz="24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Z. Liu et al.</a:t>
            </a:r>
            <a:r>
              <a:rPr lang="en-US" altLang="en-US" sz="2400" dirty="0">
                <a:latin typeface="Times New Roman" panose="02020603050405020304" pitchFamily="18" charset="0"/>
                <a:cs typeface="Times New Roman" panose="02020603050405020304" pitchFamily="18" charset="0"/>
              </a:rPr>
              <a:t>, </a:t>
            </a:r>
            <a:r>
              <a:rPr lang="en-US" altLang="en-US" sz="2400" i="1" dirty="0">
                <a:latin typeface="Times New Roman" panose="02020603050405020304" pitchFamily="18" charset="0"/>
                <a:cs typeface="Times New Roman" panose="02020603050405020304" pitchFamily="18" charset="0"/>
              </a:rPr>
              <a:t>“Swin Transformer: Hierarchical Vision Transformer using Shifted Windows,”</a:t>
            </a:r>
            <a:r>
              <a:rPr lang="en-US" altLang="en-US" sz="2400" dirty="0">
                <a:latin typeface="Times New Roman" panose="02020603050405020304" pitchFamily="18" charset="0"/>
                <a:cs typeface="Times New Roman" panose="02020603050405020304" pitchFamily="18" charset="0"/>
              </a:rPr>
              <a:t> IEEE/CVF International Conference on Computer Vision (ICCV), 2021.</a:t>
            </a:r>
            <a:br>
              <a:rPr lang="en-US" altLang="en-US" sz="2400" dirty="0">
                <a:latin typeface="Times New Roman" panose="02020603050405020304" pitchFamily="18" charset="0"/>
                <a:cs typeface="Times New Roman" panose="02020603050405020304" pitchFamily="18" charset="0"/>
              </a:rPr>
            </a:br>
            <a:r>
              <a:rPr lang="en-US" altLang="en-US" sz="2400" i="1" dirty="0">
                <a:latin typeface="Times New Roman" panose="02020603050405020304" pitchFamily="18" charset="0"/>
                <a:cs typeface="Times New Roman" panose="02020603050405020304" pitchFamily="18" charset="0"/>
              </a:rPr>
              <a:t>(Enhanced transformer architecture for image classification and defect detection tasks.)</a:t>
            </a:r>
            <a:endParaRPr lang="en-US" altLang="en-US" sz="24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Y. Zhang et al.</a:t>
            </a:r>
            <a:r>
              <a:rPr lang="en-US" altLang="en-US" sz="2400" dirty="0">
                <a:latin typeface="Times New Roman" panose="02020603050405020304" pitchFamily="18" charset="0"/>
                <a:cs typeface="Times New Roman" panose="02020603050405020304" pitchFamily="18" charset="0"/>
              </a:rPr>
              <a:t>, </a:t>
            </a:r>
            <a:r>
              <a:rPr lang="en-US" altLang="en-US" sz="2400" i="1" dirty="0">
                <a:latin typeface="Times New Roman" panose="02020603050405020304" pitchFamily="18" charset="0"/>
                <a:cs typeface="Times New Roman" panose="02020603050405020304" pitchFamily="18" charset="0"/>
              </a:rPr>
              <a:t>“Deep Learning-Based Surface Defect Detection for Industrial Manufacturing,”</a:t>
            </a:r>
            <a:r>
              <a:rPr lang="en-US" altLang="en-US" sz="2400" dirty="0">
                <a:latin typeface="Times New Roman" panose="02020603050405020304" pitchFamily="18" charset="0"/>
                <a:cs typeface="Times New Roman" panose="02020603050405020304" pitchFamily="18" charset="0"/>
              </a:rPr>
              <a:t> IEEE Transactions on Industrial Informatics, 2020.</a:t>
            </a:r>
            <a:br>
              <a:rPr lang="en-US" altLang="en-US" sz="2400" dirty="0">
                <a:latin typeface="Times New Roman" panose="02020603050405020304" pitchFamily="18" charset="0"/>
                <a:cs typeface="Times New Roman" panose="02020603050405020304" pitchFamily="18" charset="0"/>
              </a:rPr>
            </a:br>
            <a:r>
              <a:rPr lang="en-US" altLang="en-US" sz="2400" i="1" dirty="0">
                <a:latin typeface="Times New Roman" panose="02020603050405020304" pitchFamily="18" charset="0"/>
                <a:cs typeface="Times New Roman" panose="02020603050405020304" pitchFamily="18" charset="0"/>
              </a:rPr>
              <a:t>(Focuses on industrial defect detection using computer vision and deep learning.)</a:t>
            </a:r>
            <a:endParaRPr lang="en-US" altLang="en-US" sz="24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400" b="1" dirty="0">
                <a:latin typeface="Arial" panose="020B0604020202020204" pitchFamily="34" charset="0"/>
              </a:rPr>
              <a:t>H. Chen and P. Li</a:t>
            </a:r>
            <a:r>
              <a:rPr lang="en-US" altLang="en-US" sz="2400" dirty="0">
                <a:latin typeface="Arial" panose="020B0604020202020204" pitchFamily="34" charset="0"/>
              </a:rPr>
              <a:t>, </a:t>
            </a:r>
            <a:r>
              <a:rPr lang="en-US" altLang="en-US" sz="2400" i="1" dirty="0">
                <a:latin typeface="Arial" panose="020B0604020202020204" pitchFamily="34" charset="0"/>
              </a:rPr>
              <a:t>“Vision Transformer for Industrial Inspection: A Comparative Study,”</a:t>
            </a:r>
            <a:r>
              <a:rPr lang="en-US" altLang="en-US" sz="2400" dirty="0">
                <a:latin typeface="Arial" panose="020B0604020202020204" pitchFamily="34" charset="0"/>
              </a:rPr>
              <a:t> Journal of Manufacturing Systems, 2022.</a:t>
            </a:r>
          </a:p>
        </p:txBody>
      </p:sp>
    </p:spTree>
    <p:extLst>
      <p:ext uri="{BB962C8B-B14F-4D97-AF65-F5344CB8AC3E}">
        <p14:creationId xmlns:p14="http://schemas.microsoft.com/office/powerpoint/2010/main" val="14614679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EF39A-0478-018C-235D-3EFF8B98F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8A3459-902F-3F05-9847-244B309472DA}"/>
              </a:ext>
            </a:extLst>
          </p:cNvPr>
          <p:cNvSpPr>
            <a:spLocks noGrp="1"/>
          </p:cNvSpPr>
          <p:nvPr>
            <p:ph type="title"/>
          </p:nvPr>
        </p:nvSpPr>
        <p:spPr>
          <a:xfrm>
            <a:off x="621840" y="385010"/>
            <a:ext cx="10515600" cy="1144740"/>
          </a:xfrm>
        </p:spPr>
        <p:txBody>
          <a:bodyPr>
            <a:normAutofit/>
          </a:bodyPr>
          <a:lstStyle/>
          <a:p>
            <a:r>
              <a:rPr lang="en-IN" b="1" u="sng" dirty="0">
                <a:latin typeface="Times New Roman" panose="02020603050405020304" pitchFamily="18" charset="0"/>
                <a:cs typeface="Times New Roman" panose="02020603050405020304" pitchFamily="18" charset="0"/>
              </a:rPr>
              <a:t>REFERENCE:</a:t>
            </a:r>
            <a:endParaRPr lang="en-US" b="1"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01795473-A98A-3ACC-5978-AF4D1FE768BD}"/>
              </a:ext>
            </a:extLst>
          </p:cNvPr>
          <p:cNvSpPr>
            <a:spLocks noGrp="1" noChangeArrowheads="1"/>
          </p:cNvSpPr>
          <p:nvPr>
            <p:ph idx="1"/>
          </p:nvPr>
        </p:nvSpPr>
        <p:spPr bwMode="auto">
          <a:xfrm>
            <a:off x="621840" y="1979752"/>
            <a:ext cx="11345571" cy="367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400" b="1" dirty="0">
                <a:latin typeface="Times New Roman" panose="02020603050405020304" pitchFamily="18" charset="0"/>
                <a:cs typeface="Times New Roman" panose="02020603050405020304" pitchFamily="18" charset="0"/>
              </a:rPr>
              <a:t>M. Singh et al.</a:t>
            </a:r>
            <a:r>
              <a:rPr lang="en-IN" sz="2400" dirty="0">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“AI-Driven Quality Inspection in Smart Manufacturing,”</a:t>
            </a:r>
            <a:r>
              <a:rPr lang="en-IN" sz="2400" dirty="0">
                <a:latin typeface="Times New Roman" panose="02020603050405020304" pitchFamily="18" charset="0"/>
                <a:cs typeface="Times New Roman" panose="02020603050405020304" pitchFamily="18" charset="0"/>
              </a:rPr>
              <a:t> IEEE Access, 2023.</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(Covers AI-based inspection and defect analysis techniques for intelligent factories.)</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R. K. Sharma and A. Kumar</a:t>
            </a:r>
            <a:r>
              <a:rPr lang="en-IN" sz="2400" dirty="0">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“Automated Visual Quality Control Using Deep Learning and Computer Vision,”</a:t>
            </a:r>
            <a:r>
              <a:rPr lang="en-IN" sz="2400" dirty="0">
                <a:latin typeface="Times New Roman" panose="02020603050405020304" pitchFamily="18" charset="0"/>
                <a:cs typeface="Times New Roman" panose="02020603050405020304" pitchFamily="18" charset="0"/>
              </a:rPr>
              <a:t> International Journal of Advanced Computer Science and Applications, 2021.</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(Presents a practical implementation framework for automated visual inspection.)</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T. Li et al.</a:t>
            </a:r>
            <a:r>
              <a:rPr lang="en-IN" sz="2400" dirty="0">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“Defect Detection of Metal Surfaces Using Vision Transformer Networks,”</a:t>
            </a:r>
            <a:r>
              <a:rPr lang="en-IN" sz="2400" dirty="0">
                <a:latin typeface="Times New Roman" panose="02020603050405020304" pitchFamily="18" charset="0"/>
                <a:cs typeface="Times New Roman" panose="02020603050405020304" pitchFamily="18" charset="0"/>
              </a:rPr>
              <a:t> Sensors, MDPI, 2023.</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(Applies Vision Transformers specifically for industrial surface defect detection tasks.)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9356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355</TotalTime>
  <Words>1978</Words>
  <Application>Microsoft Office PowerPoint</Application>
  <PresentationFormat>Widescreen</PresentationFormat>
  <Paragraphs>113</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Calibri</vt:lpstr>
      <vt:lpstr>Times New Roman</vt:lpstr>
      <vt:lpstr>Office Theme</vt:lpstr>
      <vt:lpstr>PowerPoint Presentation</vt:lpstr>
      <vt:lpstr> OBJECTIVE: </vt:lpstr>
      <vt:lpstr>PROBLEM STATEMENT:</vt:lpstr>
      <vt:lpstr> INTRODUCTION:</vt:lpstr>
      <vt:lpstr>Domain and Sub-Domain:</vt:lpstr>
      <vt:lpstr>EXISTING SYSTEM: </vt:lpstr>
      <vt:lpstr>EXISTING EXPLANATION:</vt:lpstr>
      <vt:lpstr>EXISTING DIAGRAM:</vt:lpstr>
      <vt:lpstr>DRAWBACKS:</vt:lpstr>
      <vt:lpstr>LITERATURE SURVEY:</vt:lpstr>
      <vt:lpstr>LITERATURE SURVEY WITH COMPARISON TABLE:</vt:lpstr>
      <vt:lpstr>PROPOSED SYSTEM:</vt:lpstr>
      <vt:lpstr>ALGORITHM EXPLANATION:</vt:lpstr>
      <vt:lpstr>MODEL USAGE:</vt:lpstr>
      <vt:lpstr>ARCHITECTURE DIAGRAM:</vt:lpstr>
      <vt:lpstr>WORKING METHODOLOGY:</vt:lpstr>
      <vt:lpstr>MODULES DESCRIPTION:</vt:lpstr>
      <vt:lpstr>ADVANTAGES:</vt:lpstr>
      <vt:lpstr>RESULT SCREENSHOOT(DEMO):</vt:lpstr>
      <vt:lpstr>RESULT SCREENSHOOT(DEMO):</vt:lpstr>
      <vt:lpstr>DATASET EXPLANAION: </vt:lpstr>
      <vt:lpstr>DATASET EXPLANAION: </vt:lpstr>
      <vt:lpstr>CONCLUSION:</vt:lpstr>
      <vt:lpstr>REFERENCE:</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nmshakthi2004@gmail.com</dc:creator>
  <cp:lastModifiedBy>Adharsh Kumar</cp:lastModifiedBy>
  <cp:revision>32</cp:revision>
  <dcterms:created xsi:type="dcterms:W3CDTF">2024-07-12T15:47:16Z</dcterms:created>
  <dcterms:modified xsi:type="dcterms:W3CDTF">2025-11-04T21:38:34Z</dcterms:modified>
</cp:coreProperties>
</file>