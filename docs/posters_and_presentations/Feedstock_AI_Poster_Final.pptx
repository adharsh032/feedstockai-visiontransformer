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_rels/slideMaster1.xml.rels" ContentType="application/vnd.openxmlformats-package.relationships+xml"/>
  <Override PartName="/ppt/slideMasters/slideMaster1.xml" ContentType="application/vnd.openxmlformats-officedocument.presentationml.slideMaster+xml"/>
  <Override PartName="/ppt/_rels/presentation.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media/image1.jpeg" ContentType="image/jpeg"/>
  <Override PartName="/ppt/media/image2.png" ContentType="image/png"/>
  <Override PartName="/ppt/media/image3.png" ContentType="image/png"/>
  <Override PartName="/ppt/media/image5.jpeg" ContentType="image/jpeg"/>
  <Override PartName="/ppt/media/image4.png" ContentType="image/png"/>
  <Override PartName="/ppt/slides/_rels/slide1.xml.rels" ContentType="application/vnd.openxmlformats-package.relationships+xml"/>
  <Override PartName="/ppt/slides/slide1.xml" ContentType="application/vnd.openxmlformats-officedocument.presentationml.slide+xml"/>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rtl="0">
  <p:sldMasterIdLst>
    <p:sldMasterId id="2147483648" r:id="rId2"/>
  </p:sldMasterIdLst>
  <p:notesMasterIdLst>
    <p:notesMasterId r:id="rId3"/>
  </p:notesMasterIdLst>
  <p:sldIdLst>
    <p:sldId id="256" r:id="rId4"/>
  </p:sldIdLst>
  <p:sldSz cx="11430000" cy="17373600"/>
  <p:notesSz cx="6881813" cy="9296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uFillTx/>
                <a:latin typeface="Calibri"/>
              </a:rPr>
              <a:t>Double-tap to move the slide</a:t>
            </a:r>
            <a:endParaRPr b="0" lang="en-US" sz="1800" strike="noStrike" u="none">
              <a:solidFill>
                <a:schemeClr val="dk1"/>
              </a:solidFill>
              <a:uFillTx/>
              <a:latin typeface="Calibri"/>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trike="noStrike" u="none">
                <a:solidFill>
                  <a:srgbClr val="000000"/>
                </a:solidFill>
                <a:uFillTx/>
                <a:latin typeface="Arial"/>
              </a:rPr>
              <a:t>Double-tap to edit the notes format</a:t>
            </a:r>
            <a:endParaRPr b="0" lang="en-IN" sz="2000" strike="noStrike" u="none">
              <a:solidFill>
                <a:srgbClr val="000000"/>
              </a:solidFill>
              <a:uFillTx/>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trike="noStrike" u="none">
                <a:solidFill>
                  <a:srgbClr val="000000"/>
                </a:solidFill>
                <a:uFillTx/>
                <a:latin typeface="Arial"/>
              </a:rPr>
              <a:t>&lt;header&gt;</a:t>
            </a:r>
            <a:endParaRPr b="0" lang="en-IN" sz="1400" strike="noStrike" u="none">
              <a:solidFill>
                <a:srgbClr val="000000"/>
              </a:solidFill>
              <a:uFillTx/>
              <a:latin typeface="Arial"/>
            </a:endParaRPr>
          </a:p>
        </p:txBody>
      </p:sp>
      <p:sp>
        <p:nvSpPr>
          <p:cNvPr id="9"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IN" sz="1400" strike="noStrike" u="none">
                <a:solidFill>
                  <a:srgbClr val="000000"/>
                </a:solidFill>
                <a:uFillTx/>
                <a:latin typeface="Arial"/>
              </a:defRPr>
            </a:lvl1pPr>
          </a:lstStyle>
          <a:p>
            <a:pPr indent="0" algn="r">
              <a:buNone/>
            </a:pPr>
            <a:r>
              <a:rPr b="0" lang="en-IN" sz="1400" strike="noStrike" u="none">
                <a:solidFill>
                  <a:srgbClr val="000000"/>
                </a:solidFill>
                <a:uFillTx/>
                <a:latin typeface="Arial"/>
              </a:rPr>
              <a:t>&lt;date/time&gt;</a:t>
            </a:r>
            <a:endParaRPr b="0" lang="en-IN" sz="1400" strike="noStrike" u="none">
              <a:solidFill>
                <a:srgbClr val="000000"/>
              </a:solidFill>
              <a:uFillTx/>
              <a:latin typeface="Arial"/>
            </a:endParaRPr>
          </a:p>
        </p:txBody>
      </p:sp>
      <p:sp>
        <p:nvSpPr>
          <p:cNvPr id="10"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IN" sz="1400" strike="noStrike" u="none">
                <a:solidFill>
                  <a:srgbClr val="000000"/>
                </a:solidFill>
                <a:uFillTx/>
                <a:latin typeface="Arial"/>
              </a:defRPr>
            </a:lvl1pPr>
          </a:lstStyle>
          <a:p>
            <a:pPr indent="0">
              <a:buNone/>
            </a:pPr>
            <a:r>
              <a:rPr b="0" lang="en-IN" sz="1400" strike="noStrike" u="none">
                <a:solidFill>
                  <a:srgbClr val="000000"/>
                </a:solidFill>
                <a:uFillTx/>
                <a:latin typeface="Arial"/>
              </a:rPr>
              <a:t>&lt;footer&gt;</a:t>
            </a:r>
            <a:endParaRPr b="0" lang="en-IN" sz="1400" strike="noStrike" u="none">
              <a:solidFill>
                <a:srgbClr val="000000"/>
              </a:solidFill>
              <a:uFillTx/>
              <a:latin typeface="Arial"/>
            </a:endParaRPr>
          </a:p>
        </p:txBody>
      </p:sp>
      <p:sp>
        <p:nvSpPr>
          <p:cNvPr id="11"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trike="noStrike" u="none">
                <a:solidFill>
                  <a:srgbClr val="000000"/>
                </a:solidFill>
                <a:uFillTx/>
                <a:latin typeface="Arial"/>
              </a:defRPr>
            </a:lvl1pPr>
          </a:lstStyle>
          <a:p>
            <a:pPr indent="0" algn="r">
              <a:buNone/>
            </a:pPr>
            <a:fld id="{C56D0C62-6E8B-4EEB-AAE6-3DDD8C16DBD5}" type="slidenum">
              <a:rPr b="0" lang="en-IN" sz="1400" strike="noStrike" u="none">
                <a:solidFill>
                  <a:srgbClr val="000000"/>
                </a:solidFill>
                <a:uFillTx/>
                <a:latin typeface="Arial"/>
              </a:rPr>
              <a:t>&lt;number&gt;</a:t>
            </a:fld>
            <a:endParaRPr b="0" lang="en-IN" sz="1400" strike="noStrike" u="none">
              <a:solidFill>
                <a:srgbClr val="000000"/>
              </a:solidFill>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409840" y="1162080"/>
            <a:ext cx="2061720" cy="3136680"/>
          </a:xfrm>
          <a:prstGeom prst="rect">
            <a:avLst/>
          </a:prstGeom>
          <a:ln w="0">
            <a:noFill/>
          </a:ln>
        </p:spPr>
      </p:sp>
      <p:sp>
        <p:nvSpPr>
          <p:cNvPr id="39" name="PlaceHolder 2"/>
          <p:cNvSpPr>
            <a:spLocks noGrp="1"/>
          </p:cNvSpPr>
          <p:nvPr>
            <p:ph type="body"/>
          </p:nvPr>
        </p:nvSpPr>
        <p:spPr>
          <a:xfrm>
            <a:off x="688320" y="4473720"/>
            <a:ext cx="5505120" cy="3660120"/>
          </a:xfrm>
          <a:prstGeom prst="rect">
            <a:avLst/>
          </a:prstGeom>
          <a:noFill/>
          <a:ln w="0">
            <a:noFill/>
          </a:ln>
        </p:spPr>
        <p:txBody>
          <a:bodyPr lIns="92520" rIns="92520" tIns="46080" bIns="46080" anchor="t">
            <a:noAutofit/>
          </a:bodyPr>
          <a:p>
            <a:pPr marL="216000" indent="-216000">
              <a:buNone/>
            </a:pPr>
            <a:endParaRPr b="0" lang="en-IN" sz="1800" strike="noStrike" u="none">
              <a:solidFill>
                <a:srgbClr val="000000"/>
              </a:solidFill>
              <a:uFillTx/>
              <a:latin typeface="Arial"/>
            </a:endParaRPr>
          </a:p>
        </p:txBody>
      </p:sp>
      <p:sp>
        <p:nvSpPr>
          <p:cNvPr id="40" name="PlaceHolder 3"/>
          <p:cNvSpPr>
            <a:spLocks noGrp="1"/>
          </p:cNvSpPr>
          <p:nvPr>
            <p:ph type="sldNum" idx="7"/>
          </p:nvPr>
        </p:nvSpPr>
        <p:spPr>
          <a:xfrm>
            <a:off x="3898080" y="8830080"/>
            <a:ext cx="2981880" cy="466200"/>
          </a:xfrm>
          <a:prstGeom prst="rect">
            <a:avLst/>
          </a:prstGeom>
          <a:noFill/>
          <a:ln w="0">
            <a:noFill/>
          </a:ln>
        </p:spPr>
        <p:txBody>
          <a:bodyPr lIns="92520" rIns="92520" tIns="46080" bIns="46080" anchor="b">
            <a:noAutofit/>
          </a:bodyPr>
          <a:lstStyle>
            <a:lvl1pPr indent="0" algn="r">
              <a:lnSpc>
                <a:spcPct val="100000"/>
              </a:lnSpc>
              <a:buNone/>
              <a:defRPr b="0" lang="en-US" sz="1200" strike="noStrike" u="none">
                <a:solidFill>
                  <a:srgbClr val="000000"/>
                </a:solidFill>
                <a:uFillTx/>
                <a:latin typeface="Arial"/>
              </a:defRPr>
            </a:lvl1pPr>
          </a:lstStyle>
          <a:p>
            <a:pPr indent="0" algn="r">
              <a:lnSpc>
                <a:spcPct val="100000"/>
              </a:lnSpc>
              <a:buNone/>
            </a:pPr>
            <a:fld id="{C9FE2FF2-0995-4D9F-B59D-5654F60C707E}" type="slidenum">
              <a:rPr b="0" lang="en-US" sz="1200" strike="noStrike" u="none">
                <a:solidFill>
                  <a:srgbClr val="000000"/>
                </a:solidFill>
                <a:uFillTx/>
                <a:latin typeface="Arial"/>
              </a:rPr>
              <a:t>&lt;number&gt;</a:t>
            </a:fld>
            <a:endParaRPr b="0" lang="en-IN" sz="1200" strike="noStrike" u="none">
              <a:solidFill>
                <a:srgbClr val="000000"/>
              </a:solidFill>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857160" y="2843280"/>
            <a:ext cx="9715320" cy="6048360"/>
          </a:xfrm>
          <a:prstGeom prst="rect">
            <a:avLst/>
          </a:prstGeom>
          <a:noFill/>
          <a:ln w="0">
            <a:noFill/>
          </a:ln>
        </p:spPr>
        <p:txBody>
          <a:bodyPr lIns="0" rIns="0" tIns="0" bIns="0" anchor="ctr">
            <a:spAutoFit/>
          </a:bodyPr>
          <a:p>
            <a:pPr indent="0">
              <a:buNone/>
            </a:pPr>
            <a:endParaRPr b="0" lang="en-US" sz="1800" strike="noStrike" u="none">
              <a:solidFill>
                <a:schemeClr val="dk1"/>
              </a:solidFill>
              <a:uFillTx/>
              <a:latin typeface="Calibri"/>
            </a:endParaRPr>
          </a:p>
        </p:txBody>
      </p:sp>
      <p:sp>
        <p:nvSpPr>
          <p:cNvPr id="5" name="PlaceHolder 2"/>
          <p:cNvSpPr>
            <a:spLocks noGrp="1"/>
          </p:cNvSpPr>
          <p:nvPr>
            <p:ph type="subTitle"/>
          </p:nvPr>
        </p:nvSpPr>
        <p:spPr>
          <a:xfrm>
            <a:off x="571320" y="4065120"/>
            <a:ext cx="10286640" cy="10076040"/>
          </a:xfrm>
          <a:prstGeom prst="rect">
            <a:avLst/>
          </a:prstGeom>
          <a:noFill/>
          <a:ln w="0">
            <a:noFill/>
          </a:ln>
        </p:spPr>
        <p:txBody>
          <a:bodyPr lIns="0" rIns="0" tIns="0" bIns="0" anchor="ctr">
            <a:spAutoFit/>
          </a:bodyPr>
          <a:p>
            <a:pPr indent="0" algn="ctr">
              <a:buNone/>
            </a:pPr>
            <a:endParaRPr b="0" lang="en-IN" sz="3200" strike="noStrike" u="none">
              <a:solidFill>
                <a:srgbClr val="000000"/>
              </a:solidFill>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7B88136-68DB-41FE-B4D6-2F773210701F}"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57160" y="2843280"/>
            <a:ext cx="9715320" cy="6048360"/>
          </a:xfrm>
          <a:prstGeom prst="rect">
            <a:avLst/>
          </a:prstGeom>
          <a:noFill/>
          <a:ln w="0">
            <a:noFill/>
          </a:ln>
        </p:spPr>
        <p:txBody>
          <a:bodyPr lIns="91440" rIns="91440" tIns="45720" bIns="45720" anchor="b">
            <a:noAutofit/>
          </a:bodyPr>
          <a:p>
            <a:pPr indent="0" algn="ctr" defTabSz="1143000">
              <a:lnSpc>
                <a:spcPct val="90000"/>
              </a:lnSpc>
              <a:buNone/>
            </a:pPr>
            <a:r>
              <a:rPr b="0" lang="en-US" sz="7500" strike="noStrike" u="none">
                <a:solidFill>
                  <a:schemeClr val="dk1"/>
                </a:solidFill>
                <a:uFillTx/>
                <a:latin typeface="Calibri Light"/>
              </a:rPr>
              <a:t>Click to edit Master title style</a:t>
            </a:r>
            <a:endParaRPr b="0" lang="en-US" sz="7500" strike="noStrike" u="none">
              <a:solidFill>
                <a:schemeClr val="dk1"/>
              </a:solidFill>
              <a:uFillTx/>
              <a:latin typeface="Calibri"/>
            </a:endParaRPr>
          </a:p>
        </p:txBody>
      </p:sp>
      <p:sp>
        <p:nvSpPr>
          <p:cNvPr id="1" name="PlaceHolder 2"/>
          <p:cNvSpPr>
            <a:spLocks noGrp="1"/>
          </p:cNvSpPr>
          <p:nvPr>
            <p:ph type="dt" idx="1"/>
          </p:nvPr>
        </p:nvSpPr>
        <p:spPr>
          <a:xfrm>
            <a:off x="785880" y="16102800"/>
            <a:ext cx="2571480" cy="924480"/>
          </a:xfrm>
          <a:prstGeom prst="rect">
            <a:avLst/>
          </a:prstGeom>
          <a:noFill/>
          <a:ln w="0">
            <a:noFill/>
          </a:ln>
        </p:spPr>
        <p:txBody>
          <a:bodyPr lIns="91440" rIns="91440" tIns="45720" bIns="45720" anchor="ctr">
            <a:noAutofit/>
          </a:bodyPr>
          <a:lstStyle>
            <a:lvl1pPr indent="0" defTabSz="914400">
              <a:lnSpc>
                <a:spcPct val="100000"/>
              </a:lnSpc>
              <a:buNone/>
              <a:defRPr b="0" lang="en-US" sz="1500" strike="noStrike" u="none">
                <a:solidFill>
                  <a:schemeClr val="dk1">
                    <a:tint val="75000"/>
                  </a:schemeClr>
                </a:solidFill>
                <a:uFillTx/>
                <a:latin typeface="Calibri"/>
              </a:defRPr>
            </a:lvl1pPr>
          </a:lstStyle>
          <a:p>
            <a:pPr indent="0" defTabSz="914400">
              <a:lnSpc>
                <a:spcPct val="100000"/>
              </a:lnSpc>
              <a:buNone/>
            </a:pPr>
            <a:r>
              <a:rPr b="0" lang="en-US" sz="1500" strike="noStrike" u="none">
                <a:solidFill>
                  <a:schemeClr val="dk1">
                    <a:tint val="75000"/>
                  </a:schemeClr>
                </a:solidFill>
                <a:uFillTx/>
                <a:latin typeface="Calibri"/>
              </a:rPr>
              <a:t>&lt;date/time&gt;</a:t>
            </a:r>
            <a:endParaRPr b="0" lang="en-IN" sz="1500" strike="noStrike" u="none">
              <a:solidFill>
                <a:srgbClr val="000000"/>
              </a:solidFill>
              <a:uFillTx/>
              <a:latin typeface="Arial"/>
            </a:endParaRPr>
          </a:p>
        </p:txBody>
      </p:sp>
      <p:sp>
        <p:nvSpPr>
          <p:cNvPr id="2" name="PlaceHolder 3"/>
          <p:cNvSpPr>
            <a:spLocks noGrp="1"/>
          </p:cNvSpPr>
          <p:nvPr>
            <p:ph type="ftr" idx="2"/>
          </p:nvPr>
        </p:nvSpPr>
        <p:spPr>
          <a:xfrm>
            <a:off x="3786120" y="16102800"/>
            <a:ext cx="3857400" cy="92448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uFillTx/>
                <a:latin typeface="Arial"/>
              </a:defRPr>
            </a:lvl1pPr>
          </a:lstStyle>
          <a:p>
            <a:pPr indent="0" algn="ctr">
              <a:buNone/>
            </a:pPr>
            <a:r>
              <a:rPr b="0" lang="en-IN" sz="1400" strike="noStrike" u="none">
                <a:solidFill>
                  <a:srgbClr val="000000"/>
                </a:solidFill>
                <a:uFillTx/>
                <a:latin typeface="Arial"/>
              </a:rPr>
              <a:t>&lt;footer&gt;</a:t>
            </a:r>
            <a:endParaRPr b="0" lang="en-IN" sz="1400" strike="noStrike" u="none">
              <a:solidFill>
                <a:srgbClr val="000000"/>
              </a:solidFill>
              <a:uFillTx/>
              <a:latin typeface="Arial"/>
            </a:endParaRPr>
          </a:p>
        </p:txBody>
      </p:sp>
      <p:sp>
        <p:nvSpPr>
          <p:cNvPr id="3" name="PlaceHolder 4"/>
          <p:cNvSpPr>
            <a:spLocks noGrp="1"/>
          </p:cNvSpPr>
          <p:nvPr>
            <p:ph type="sldNum" idx="3"/>
          </p:nvPr>
        </p:nvSpPr>
        <p:spPr>
          <a:xfrm>
            <a:off x="8072280" y="16102800"/>
            <a:ext cx="2571480" cy="924480"/>
          </a:xfrm>
          <a:prstGeom prst="rect">
            <a:avLst/>
          </a:prstGeom>
          <a:noFill/>
          <a:ln w="0">
            <a:noFill/>
          </a:ln>
        </p:spPr>
        <p:txBody>
          <a:bodyPr lIns="91440" rIns="91440" tIns="45720" bIns="45720" anchor="ctr">
            <a:noAutofit/>
          </a:bodyPr>
          <a:lstStyle>
            <a:lvl1pPr indent="0" algn="r" defTabSz="914400">
              <a:lnSpc>
                <a:spcPct val="100000"/>
              </a:lnSpc>
              <a:buNone/>
              <a:defRPr b="0" lang="en-US" sz="1500" strike="noStrike" u="none">
                <a:solidFill>
                  <a:schemeClr val="dk1">
                    <a:tint val="75000"/>
                  </a:schemeClr>
                </a:solidFill>
                <a:uFillTx/>
                <a:latin typeface="Calibri"/>
              </a:defRPr>
            </a:lvl1pPr>
          </a:lstStyle>
          <a:p>
            <a:pPr indent="0" algn="r" defTabSz="914400">
              <a:lnSpc>
                <a:spcPct val="100000"/>
              </a:lnSpc>
              <a:buNone/>
            </a:pPr>
            <a:fld id="{90C4E4AD-F66C-4575-9D8C-E668B25DA150}" type="slidenum">
              <a:rPr b="0" lang="en-US" sz="1500" strike="noStrike" u="none">
                <a:solidFill>
                  <a:schemeClr val="dk1">
                    <a:tint val="75000"/>
                  </a:schemeClr>
                </a:solidFill>
                <a:uFillTx/>
                <a:latin typeface="Calibri"/>
              </a:rPr>
              <a:t>&lt;number&gt;</a:t>
            </a:fld>
            <a:endParaRPr b="0" lang="en-IN" sz="15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jpeg"/><Relationship Id="rId6" Type="http://schemas.openxmlformats.org/officeDocument/2006/relationships/slideLayout" Target="../slideLayouts/slideLayout1.xml"/><Relationship Id="rId7"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Title 1"/>
          <p:cNvSpPr/>
          <p:nvPr/>
        </p:nvSpPr>
        <p:spPr>
          <a:xfrm>
            <a:off x="1171800" y="4868640"/>
            <a:ext cx="8661600" cy="414720"/>
          </a:xfrm>
          <a:prstGeom prst="rect">
            <a:avLst/>
          </a:prstGeom>
          <a:noFill/>
          <a:ln w="12700">
            <a:noFill/>
          </a:ln>
        </p:spPr>
        <p:style>
          <a:lnRef idx="0"/>
          <a:fillRef idx="0"/>
          <a:effectRef idx="0"/>
          <a:fontRef idx="minor"/>
        </p:style>
        <p:txBody>
          <a:bodyPr anchor="b">
            <a:noAutofit/>
          </a:bodyPr>
          <a:p>
            <a:pPr algn="ctr" defTabSz="1143000">
              <a:lnSpc>
                <a:spcPct val="90000"/>
              </a:lnSpc>
            </a:pPr>
            <a:r>
              <a:rPr b="1" lang="en-US" sz="2000" strike="noStrike" u="none">
                <a:solidFill>
                  <a:srgbClr val="ff0000"/>
                </a:solidFill>
                <a:uFillTx/>
                <a:latin typeface="Times New Roman"/>
              </a:rPr>
              <a:t>ABSTRACT</a:t>
            </a:r>
            <a:endParaRPr b="0" lang="en-IN" sz="2000" strike="noStrike" u="none">
              <a:solidFill>
                <a:srgbClr val="000000"/>
              </a:solidFill>
              <a:uFillTx/>
              <a:latin typeface="Arial"/>
            </a:endParaRPr>
          </a:p>
        </p:txBody>
      </p:sp>
      <p:sp>
        <p:nvSpPr>
          <p:cNvPr id="13" name="Title 1"/>
          <p:cNvSpPr/>
          <p:nvPr/>
        </p:nvSpPr>
        <p:spPr>
          <a:xfrm>
            <a:off x="760320" y="6678720"/>
            <a:ext cx="4470840" cy="500760"/>
          </a:xfrm>
          <a:prstGeom prst="rect">
            <a:avLst/>
          </a:prstGeom>
          <a:noFill/>
          <a:ln w="0">
            <a:noFill/>
          </a:ln>
        </p:spPr>
        <p:style>
          <a:lnRef idx="0"/>
          <a:fillRef idx="0"/>
          <a:effectRef idx="0"/>
          <a:fontRef idx="minor"/>
        </p:style>
        <p:txBody>
          <a:bodyPr anchor="b">
            <a:noAutofit/>
          </a:bodyPr>
          <a:p>
            <a:pPr algn="ctr" defTabSz="1143000">
              <a:lnSpc>
                <a:spcPct val="90000"/>
              </a:lnSpc>
            </a:pPr>
            <a:r>
              <a:rPr b="1" lang="en-US" sz="2000" strike="noStrike" u="none">
                <a:solidFill>
                  <a:srgbClr val="ff0000"/>
                </a:solidFill>
                <a:uFillTx/>
                <a:latin typeface="Times New Roman"/>
              </a:rPr>
              <a:t>   </a:t>
            </a:r>
            <a:r>
              <a:rPr b="1" lang="en-US" sz="2000" strike="noStrike" u="none">
                <a:solidFill>
                  <a:srgbClr val="ff0000"/>
                </a:solidFill>
                <a:uFillTx/>
                <a:latin typeface="Times New Roman"/>
              </a:rPr>
              <a:t>EXISTING WORK</a:t>
            </a:r>
            <a:endParaRPr b="0" lang="en-IN" sz="2000" strike="noStrike" u="none">
              <a:solidFill>
                <a:srgbClr val="000000"/>
              </a:solidFill>
              <a:uFillTx/>
              <a:latin typeface="Arial"/>
            </a:endParaRPr>
          </a:p>
        </p:txBody>
      </p:sp>
      <p:sp>
        <p:nvSpPr>
          <p:cNvPr id="14" name="Title 1"/>
          <p:cNvSpPr/>
          <p:nvPr/>
        </p:nvSpPr>
        <p:spPr>
          <a:xfrm>
            <a:off x="3165480" y="6759360"/>
            <a:ext cx="9456120" cy="439560"/>
          </a:xfrm>
          <a:prstGeom prst="rect">
            <a:avLst/>
          </a:prstGeom>
          <a:noFill/>
          <a:ln w="0">
            <a:noFill/>
          </a:ln>
        </p:spPr>
        <p:style>
          <a:lnRef idx="0"/>
          <a:fillRef idx="0"/>
          <a:effectRef idx="0"/>
          <a:fontRef idx="minor"/>
        </p:style>
        <p:txBody>
          <a:bodyPr anchor="b">
            <a:noAutofit/>
          </a:bodyPr>
          <a:p>
            <a:pPr marL="457200" algn="ctr" defTabSz="1143000">
              <a:lnSpc>
                <a:spcPct val="150000"/>
              </a:lnSpc>
              <a:spcAft>
                <a:spcPts val="1199"/>
              </a:spcAft>
              <a:tabLst>
                <a:tab algn="l" pos="171360"/>
              </a:tabLst>
            </a:pPr>
            <a:endParaRPr b="0" lang="en-IN" sz="2000" strike="noStrike" u="none">
              <a:solidFill>
                <a:srgbClr val="000000"/>
              </a:solidFill>
              <a:uFillTx/>
              <a:latin typeface="Arial"/>
            </a:endParaRPr>
          </a:p>
          <a:p>
            <a:pPr marL="457200" algn="ctr" defTabSz="1143000">
              <a:lnSpc>
                <a:spcPct val="150000"/>
              </a:lnSpc>
              <a:spcAft>
                <a:spcPts val="1199"/>
              </a:spcAft>
              <a:tabLst>
                <a:tab algn="l" pos="171360"/>
              </a:tabLst>
            </a:pPr>
            <a:r>
              <a:rPr b="1" lang="en-US" sz="2000" strike="noStrike" u="none">
                <a:solidFill>
                  <a:srgbClr val="ff0000"/>
                </a:solidFill>
                <a:uFillTx/>
                <a:latin typeface="Times New Roman"/>
                <a:ea typeface="Times New Roman"/>
              </a:rPr>
              <a:t>        </a:t>
            </a:r>
            <a:r>
              <a:rPr b="1" lang="en-US" sz="2000" strike="noStrike" u="none">
                <a:solidFill>
                  <a:srgbClr val="ff0000"/>
                </a:solidFill>
                <a:uFillTx/>
                <a:latin typeface="Times New Roman"/>
                <a:ea typeface="Times New Roman"/>
              </a:rPr>
              <a:t>PROPOSED WORK</a:t>
            </a:r>
            <a:endParaRPr b="0" lang="en-IN" sz="2000" strike="noStrike" u="none">
              <a:solidFill>
                <a:srgbClr val="000000"/>
              </a:solidFill>
              <a:uFillTx/>
              <a:latin typeface="Arial"/>
            </a:endParaRPr>
          </a:p>
        </p:txBody>
      </p:sp>
      <p:sp>
        <p:nvSpPr>
          <p:cNvPr id="15" name="TextBox 1"/>
          <p:cNvSpPr/>
          <p:nvPr/>
        </p:nvSpPr>
        <p:spPr>
          <a:xfrm>
            <a:off x="-24480" y="2320920"/>
            <a:ext cx="11449440" cy="440280"/>
          </a:xfrm>
          <a:prstGeom prst="rect">
            <a:avLst/>
          </a:prstGeom>
          <a:noFill/>
          <a:ln w="0">
            <a:solidFill>
              <a:srgbClr val="ffffff"/>
            </a:solidFill>
          </a:ln>
        </p:spPr>
        <p:style>
          <a:lnRef idx="0"/>
          <a:fillRef idx="0"/>
          <a:effectRef idx="0"/>
          <a:fontRef idx="minor"/>
        </p:style>
        <p:txBody>
          <a:bodyPr lIns="90000" rIns="90000" tIns="45000" bIns="45000" anchor="t">
            <a:spAutoFit/>
          </a:bodyPr>
          <a:p>
            <a:pPr defTabSz="914400">
              <a:lnSpc>
                <a:spcPct val="115000"/>
              </a:lnSpc>
            </a:pPr>
            <a:r>
              <a:rPr b="1" lang="en-AU" sz="2000" strike="noStrike" u="none">
                <a:solidFill>
                  <a:srgbClr val="000000"/>
                </a:solidFill>
                <a:uFillTx/>
                <a:latin typeface="Times New Roman"/>
                <a:ea typeface="Times New Roman"/>
              </a:rPr>
              <a:t>                                   </a:t>
            </a:r>
            <a:r>
              <a:rPr b="1" lang="en-AU" sz="2000" strike="noStrike" u="none">
                <a:solidFill>
                  <a:srgbClr val="000000"/>
                </a:solidFill>
                <a:uFillTx/>
                <a:latin typeface="Times New Roman"/>
                <a:ea typeface="Times New Roman"/>
              </a:rPr>
              <a:t>Department of Artificial Intelligence and Machine Learning</a:t>
            </a:r>
            <a:endParaRPr b="0" lang="en-IN" sz="2000" strike="noStrike" u="none">
              <a:solidFill>
                <a:srgbClr val="000000"/>
              </a:solidFill>
              <a:uFillTx/>
              <a:latin typeface="Arial"/>
            </a:endParaRPr>
          </a:p>
        </p:txBody>
      </p:sp>
      <p:sp>
        <p:nvSpPr>
          <p:cNvPr id="16" name="Title 1"/>
          <p:cNvSpPr/>
          <p:nvPr/>
        </p:nvSpPr>
        <p:spPr>
          <a:xfrm>
            <a:off x="-861840" y="12267360"/>
            <a:ext cx="6157080" cy="602640"/>
          </a:xfrm>
          <a:prstGeom prst="rect">
            <a:avLst/>
          </a:prstGeom>
          <a:noFill/>
          <a:ln w="12700">
            <a:noFill/>
          </a:ln>
        </p:spPr>
        <p:style>
          <a:lnRef idx="0"/>
          <a:fillRef idx="0"/>
          <a:effectRef idx="0"/>
          <a:fontRef idx="minor"/>
        </p:style>
        <p:txBody>
          <a:bodyPr anchor="b">
            <a:noAutofit/>
          </a:bodyPr>
          <a:p>
            <a:pPr marL="457200" algn="ctr" defTabSz="1143000">
              <a:lnSpc>
                <a:spcPct val="150000"/>
              </a:lnSpc>
              <a:spcAft>
                <a:spcPts val="1199"/>
              </a:spcAft>
              <a:tabLst>
                <a:tab algn="l" pos="114480"/>
                <a:tab algn="l" pos="171360"/>
              </a:tabLst>
            </a:pPr>
            <a:r>
              <a:rPr b="1" lang="en-US" sz="2000" strike="noStrike" u="none">
                <a:solidFill>
                  <a:srgbClr val="ff0000"/>
                </a:solidFill>
                <a:uFillTx/>
                <a:latin typeface="Times New Roman"/>
                <a:ea typeface="Times New Roman"/>
              </a:rPr>
              <a:t>              </a:t>
            </a:r>
            <a:r>
              <a:rPr b="1" lang="en-US" sz="2000" strike="noStrike" u="none">
                <a:solidFill>
                  <a:srgbClr val="ff0000"/>
                </a:solidFill>
                <a:uFillTx/>
                <a:latin typeface="Times New Roman"/>
                <a:ea typeface="Times New Roman"/>
              </a:rPr>
              <a:t>INNOVATION</a:t>
            </a:r>
            <a:endParaRPr b="0" lang="en-IN" sz="2000" strike="noStrike" u="none">
              <a:solidFill>
                <a:srgbClr val="000000"/>
              </a:solidFill>
              <a:uFillTx/>
              <a:latin typeface="Arial"/>
            </a:endParaRPr>
          </a:p>
        </p:txBody>
      </p:sp>
      <p:pic>
        <p:nvPicPr>
          <p:cNvPr id="17" name="Picture 2" descr=""/>
          <p:cNvPicPr/>
          <p:nvPr/>
        </p:nvPicPr>
        <p:blipFill>
          <a:blip r:embed="rId1"/>
          <a:stretch/>
        </p:blipFill>
        <p:spPr>
          <a:xfrm>
            <a:off x="167760" y="0"/>
            <a:ext cx="11251800" cy="2394360"/>
          </a:xfrm>
          <a:prstGeom prst="rect">
            <a:avLst/>
          </a:prstGeom>
          <a:noFill/>
          <a:ln w="9525">
            <a:noFill/>
          </a:ln>
        </p:spPr>
      </p:pic>
      <p:sp>
        <p:nvSpPr>
          <p:cNvPr id="18" name="TextBox 3"/>
          <p:cNvSpPr/>
          <p:nvPr/>
        </p:nvSpPr>
        <p:spPr>
          <a:xfrm>
            <a:off x="316080" y="5222880"/>
            <a:ext cx="10791000" cy="15526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200" strike="noStrike" u="none">
                <a:solidFill>
                  <a:schemeClr val="dk1"/>
                </a:solidFill>
                <a:uFillTx/>
                <a:latin typeface="Times New Roman"/>
              </a:rPr>
              <a:t>The proposed Intelligent Vision Transformer-Based Feedstock Quality Assessment and Defect Detection System addresses the growing demand for accurate, automated, and real-time quality inspection in modern Industry 4.0 production environments. This study presents an advanced AI-driven solution that utilizes Vision Transformer (ViT) architecture and computer vision techniques to analyze feedstock surface images for quality evaluation and defect identification with high precision. The system integrates industrial camera-based image acquisition with OpenCV-powered preprocessing and deep learning-based feature extraction to enable fully contactless and non-invasive inspection. Captured images are processed to identify texture inconsistencies, surface irregularities, cracks, inclusions, and other manufacturing defects in real time. The proposed framework ensures consistent quality monitoring across varying lighting conditions and production speeds while minimizing human intervention and manual calibration. By leveraging transformer-based global attention mechanisms, the model achieves superior contextual understanding and defect localization compared to traditional CNN-based inspection systems</a:t>
            </a:r>
            <a:endParaRPr b="0" lang="en-IN" sz="1200" strike="noStrike" u="none">
              <a:solidFill>
                <a:srgbClr val="000000"/>
              </a:solidFill>
              <a:uFillTx/>
              <a:latin typeface="Arial"/>
            </a:endParaRPr>
          </a:p>
        </p:txBody>
      </p:sp>
      <p:sp>
        <p:nvSpPr>
          <p:cNvPr id="19" name="TextBox 10"/>
          <p:cNvSpPr/>
          <p:nvPr/>
        </p:nvSpPr>
        <p:spPr>
          <a:xfrm>
            <a:off x="316080" y="7167240"/>
            <a:ext cx="5255640" cy="13698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200" strike="noStrike" u="none">
                <a:solidFill>
                  <a:schemeClr val="dk1"/>
                </a:solidFill>
                <a:uFillTx/>
                <a:latin typeface="Times New Roman"/>
              </a:rPr>
              <a:t>Traditional feedstock quality inspection in industrial manufacturing is primarily performed through manual observation, sensor-based analysis, or conventional CNN-based image processing systems. These methods require continuous human supervision and frequent calibration to maintain inspection accuracy across production lines. Manual inspection processes are often time-consuming, inconsistent, and highly dependent on operator expertise, leading to variations in defect identification and material grading. </a:t>
            </a:r>
            <a:endParaRPr b="0" lang="en-IN" sz="1200" strike="noStrike" u="none">
              <a:solidFill>
                <a:srgbClr val="000000"/>
              </a:solidFill>
              <a:uFillTx/>
              <a:latin typeface="Arial"/>
            </a:endParaRPr>
          </a:p>
        </p:txBody>
      </p:sp>
      <p:sp>
        <p:nvSpPr>
          <p:cNvPr id="20" name="TextBox 13"/>
          <p:cNvSpPr/>
          <p:nvPr/>
        </p:nvSpPr>
        <p:spPr>
          <a:xfrm>
            <a:off x="269640" y="11297160"/>
            <a:ext cx="5348880" cy="11869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200" strike="noStrike" u="none">
                <a:solidFill>
                  <a:schemeClr val="dk1"/>
                </a:solidFill>
                <a:uFillTx/>
                <a:latin typeface="Times New Roman"/>
              </a:rPr>
              <a:t>The objective of the proposed Feedstock Quality Assessment and Defect Detection System is to develop an intelligent Vision Transformer-based platform capable of performing automated, real-time, and contactless inspection of industrial feedstock materials. The system aims to accurately analyze surface characteristics, identify defects, and evaluate material quality using advanced deep learning and computer vision techniques.</a:t>
            </a:r>
            <a:endParaRPr b="0" lang="en-IN" sz="1200" strike="noStrike" u="none">
              <a:solidFill>
                <a:srgbClr val="000000"/>
              </a:solidFill>
              <a:uFillTx/>
              <a:latin typeface="Arial"/>
            </a:endParaRPr>
          </a:p>
        </p:txBody>
      </p:sp>
      <p:sp>
        <p:nvSpPr>
          <p:cNvPr id="21" name="Title 1"/>
          <p:cNvSpPr/>
          <p:nvPr/>
        </p:nvSpPr>
        <p:spPr>
          <a:xfrm>
            <a:off x="-1720440" y="10890360"/>
            <a:ext cx="8267040" cy="439560"/>
          </a:xfrm>
          <a:prstGeom prst="rect">
            <a:avLst/>
          </a:prstGeom>
          <a:noFill/>
          <a:ln w="12700">
            <a:noFill/>
          </a:ln>
        </p:spPr>
        <p:style>
          <a:lnRef idx="0"/>
          <a:fillRef idx="0"/>
          <a:effectRef idx="0"/>
          <a:fontRef idx="minor"/>
        </p:style>
        <p:txBody>
          <a:bodyPr anchor="b">
            <a:noAutofit/>
          </a:bodyPr>
          <a:p>
            <a:pPr algn="ctr" defTabSz="1143000">
              <a:lnSpc>
                <a:spcPct val="90000"/>
              </a:lnSpc>
            </a:pPr>
            <a:endParaRPr b="0" lang="en-IN" sz="2000" strike="noStrike" u="none">
              <a:solidFill>
                <a:srgbClr val="000000"/>
              </a:solidFill>
              <a:uFillTx/>
              <a:latin typeface="Arial"/>
            </a:endParaRPr>
          </a:p>
          <a:p>
            <a:pPr algn="ctr" defTabSz="1143000">
              <a:lnSpc>
                <a:spcPct val="90000"/>
              </a:lnSpc>
            </a:pPr>
            <a:endParaRPr b="0" lang="en-IN" sz="2000" strike="noStrike" u="none">
              <a:solidFill>
                <a:srgbClr val="000000"/>
              </a:solidFill>
              <a:uFillTx/>
              <a:latin typeface="Arial"/>
            </a:endParaRPr>
          </a:p>
          <a:p>
            <a:pPr algn="ctr" defTabSz="1143000">
              <a:lnSpc>
                <a:spcPct val="90000"/>
              </a:lnSpc>
            </a:pPr>
            <a:endParaRPr b="0" lang="en-IN" sz="2000" strike="noStrike" u="none">
              <a:solidFill>
                <a:srgbClr val="000000"/>
              </a:solidFill>
              <a:uFillTx/>
              <a:latin typeface="Arial"/>
            </a:endParaRPr>
          </a:p>
          <a:p>
            <a:pPr algn="ctr" defTabSz="1143000">
              <a:lnSpc>
                <a:spcPct val="90000"/>
              </a:lnSpc>
            </a:pPr>
            <a:endParaRPr b="0" lang="en-IN" sz="2000" strike="noStrike" u="none">
              <a:solidFill>
                <a:srgbClr val="000000"/>
              </a:solidFill>
              <a:uFillTx/>
              <a:latin typeface="Arial"/>
            </a:endParaRPr>
          </a:p>
          <a:p>
            <a:pPr algn="ctr" defTabSz="1143000">
              <a:lnSpc>
                <a:spcPct val="90000"/>
              </a:lnSpc>
            </a:pPr>
            <a:endParaRPr b="0" lang="en-IN" sz="2000" strike="noStrike" u="none">
              <a:solidFill>
                <a:srgbClr val="000000"/>
              </a:solidFill>
              <a:uFillTx/>
              <a:latin typeface="Arial"/>
            </a:endParaRPr>
          </a:p>
          <a:p>
            <a:pPr algn="ctr" defTabSz="1143000">
              <a:lnSpc>
                <a:spcPct val="90000"/>
              </a:lnSpc>
            </a:pPr>
            <a:endParaRPr b="0" lang="en-IN" sz="2000" strike="noStrike" u="none">
              <a:solidFill>
                <a:srgbClr val="000000"/>
              </a:solidFill>
              <a:uFillTx/>
              <a:latin typeface="Arial"/>
            </a:endParaRPr>
          </a:p>
          <a:p>
            <a:pPr algn="ctr" defTabSz="1143000">
              <a:lnSpc>
                <a:spcPct val="90000"/>
              </a:lnSpc>
            </a:pPr>
            <a:endParaRPr b="0" lang="en-IN" sz="2000" strike="noStrike" u="none">
              <a:solidFill>
                <a:srgbClr val="000000"/>
              </a:solidFill>
              <a:uFillTx/>
              <a:latin typeface="Arial"/>
            </a:endParaRPr>
          </a:p>
          <a:p>
            <a:pPr algn="ctr" defTabSz="1143000">
              <a:lnSpc>
                <a:spcPct val="90000"/>
              </a:lnSpc>
            </a:pPr>
            <a:endParaRPr b="0" lang="en-IN" sz="2000" strike="noStrike" u="none">
              <a:solidFill>
                <a:srgbClr val="000000"/>
              </a:solidFill>
              <a:uFillTx/>
              <a:latin typeface="Arial"/>
            </a:endParaRPr>
          </a:p>
          <a:p>
            <a:pPr algn="ctr" defTabSz="1143000">
              <a:lnSpc>
                <a:spcPct val="90000"/>
              </a:lnSpc>
            </a:pPr>
            <a:endParaRPr b="0" lang="en-IN" sz="2000" strike="noStrike" u="none">
              <a:solidFill>
                <a:srgbClr val="000000"/>
              </a:solidFill>
              <a:uFillTx/>
              <a:latin typeface="Arial"/>
            </a:endParaRPr>
          </a:p>
          <a:p>
            <a:pPr algn="ctr" defTabSz="1143000">
              <a:lnSpc>
                <a:spcPct val="90000"/>
              </a:lnSpc>
            </a:pPr>
            <a:r>
              <a:rPr b="1" lang="en-US" sz="2000" strike="noStrike" u="none">
                <a:solidFill>
                  <a:srgbClr val="ff0000"/>
                </a:solidFill>
                <a:uFillTx/>
                <a:latin typeface="Times New Roman"/>
              </a:rPr>
              <a:t>               </a:t>
            </a:r>
            <a:r>
              <a:rPr b="1" lang="en-US" sz="2000" strike="noStrike" u="none">
                <a:solidFill>
                  <a:srgbClr val="ff0000"/>
                </a:solidFill>
                <a:uFillTx/>
                <a:latin typeface="Times New Roman"/>
              </a:rPr>
              <a:t>OBJECTIVE</a:t>
            </a:r>
            <a:endParaRPr b="0" lang="en-IN" sz="2000" strike="noStrike" u="none">
              <a:solidFill>
                <a:srgbClr val="000000"/>
              </a:solidFill>
              <a:uFillTx/>
              <a:latin typeface="Arial"/>
            </a:endParaRPr>
          </a:p>
        </p:txBody>
      </p:sp>
      <p:sp>
        <p:nvSpPr>
          <p:cNvPr id="22" name="TextBox 21"/>
          <p:cNvSpPr/>
          <p:nvPr/>
        </p:nvSpPr>
        <p:spPr>
          <a:xfrm>
            <a:off x="266040" y="12940920"/>
            <a:ext cx="5386320" cy="11869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200" strike="noStrike" u="none">
                <a:solidFill>
                  <a:schemeClr val="dk1"/>
                </a:solidFill>
                <a:uFillTx/>
                <a:latin typeface="Times New Roman"/>
              </a:rPr>
              <a:t>The system uniquely integrates Vision Transformer-based deep learning, intelligent image processing, and automated quality grading mechanisms to deliver accurate defect localization and reliable feedstock quality assessment with minimal human intervention. It enables real-time, contactless inspection by analyzing surface features, texture variations, and visual inconsistencies across production lines. </a:t>
            </a:r>
            <a:endParaRPr b="0" lang="en-IN" sz="1200" strike="noStrike" u="none">
              <a:solidFill>
                <a:srgbClr val="000000"/>
              </a:solidFill>
              <a:uFillTx/>
              <a:latin typeface="Arial"/>
            </a:endParaRPr>
          </a:p>
        </p:txBody>
      </p:sp>
      <p:sp>
        <p:nvSpPr>
          <p:cNvPr id="23" name="TextBox 23"/>
          <p:cNvSpPr/>
          <p:nvPr/>
        </p:nvSpPr>
        <p:spPr>
          <a:xfrm>
            <a:off x="-1501560" y="14014440"/>
            <a:ext cx="7436880" cy="546840"/>
          </a:xfrm>
          <a:prstGeom prst="rect">
            <a:avLst/>
          </a:prstGeom>
          <a:noFill/>
          <a:ln w="0">
            <a:noFill/>
          </a:ln>
        </p:spPr>
        <p:style>
          <a:lnRef idx="0"/>
          <a:fillRef idx="0"/>
          <a:effectRef idx="0"/>
          <a:fontRef idx="minor"/>
        </p:style>
        <p:txBody>
          <a:bodyPr lIns="90000" rIns="90000" tIns="45000" bIns="45000" anchor="t">
            <a:spAutoFit/>
          </a:bodyPr>
          <a:p>
            <a:pPr marL="457200" algn="ctr" defTabSz="914400">
              <a:lnSpc>
                <a:spcPct val="150000"/>
              </a:lnSpc>
              <a:spcAft>
                <a:spcPts val="1199"/>
              </a:spcAft>
              <a:tabLst>
                <a:tab algn="l" pos="114480"/>
                <a:tab algn="l" pos="171360"/>
              </a:tabLst>
            </a:pPr>
            <a:r>
              <a:rPr b="1" lang="en-US" sz="2000" strike="noStrike" u="none">
                <a:solidFill>
                  <a:srgbClr val="ff0000"/>
                </a:solidFill>
                <a:uFillTx/>
                <a:latin typeface="Times New Roman"/>
                <a:ea typeface="Times New Roman"/>
              </a:rPr>
              <a:t>             </a:t>
            </a:r>
            <a:r>
              <a:rPr b="1" lang="en-US" sz="2000" strike="noStrike" u="none">
                <a:solidFill>
                  <a:srgbClr val="ff0000"/>
                </a:solidFill>
                <a:uFillTx/>
                <a:latin typeface="Times New Roman"/>
                <a:ea typeface="Times New Roman"/>
              </a:rPr>
              <a:t>SDG GOALS </a:t>
            </a:r>
            <a:endParaRPr b="0" lang="en-IN" sz="2000" strike="noStrike" u="none">
              <a:solidFill>
                <a:srgbClr val="000000"/>
              </a:solidFill>
              <a:uFillTx/>
              <a:latin typeface="Arial"/>
            </a:endParaRPr>
          </a:p>
        </p:txBody>
      </p:sp>
      <p:pic>
        <p:nvPicPr>
          <p:cNvPr id="24" name="Picture 29" descr=""/>
          <p:cNvPicPr/>
          <p:nvPr/>
        </p:nvPicPr>
        <p:blipFill>
          <a:blip r:embed="rId2"/>
          <a:stretch/>
        </p:blipFill>
        <p:spPr>
          <a:xfrm>
            <a:off x="998640" y="14614200"/>
            <a:ext cx="1043640" cy="825480"/>
          </a:xfrm>
          <a:prstGeom prst="rect">
            <a:avLst/>
          </a:prstGeom>
          <a:noFill/>
          <a:ln w="0">
            <a:noFill/>
          </a:ln>
        </p:spPr>
      </p:pic>
      <p:sp>
        <p:nvSpPr>
          <p:cNvPr id="25" name="TextBox 32"/>
          <p:cNvSpPr/>
          <p:nvPr/>
        </p:nvSpPr>
        <p:spPr>
          <a:xfrm>
            <a:off x="5777280" y="12975120"/>
            <a:ext cx="5386320" cy="42958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200" strike="noStrike" u="none">
                <a:solidFill>
                  <a:schemeClr val="dk1"/>
                </a:solidFill>
                <a:uFillTx/>
                <a:latin typeface="Times New Roman"/>
              </a:rPr>
              <a:t>The proposed solution provides an intelligent and automated approach for industrial feedstock quality assessment and defect detection through Vision Transformer-based deep learning and real-time image analysis. By enabling contactless and continuous inspection, the system eliminates dependency on manual observation and reduces inconsistencies caused by human error. The integration of AI-driven defect localization, automated quality grading, and real-time monitoring enhances production efficiency, accuracy, and operational reliability across industrial environments. Its scalable architecture supports seamless deployment in Industry 4.0 production systems, enabling faster decision-making, improved quality control, and optimized manufacturing processes. The system is capable of analyzing complex surface textures, identifying minute defects, and maintaining consistent inspection performance under varying lighting conditions and production speeds. Compared to conventional inspection methods, the proposed approach offers higher precision, improved adaptability, reduced operational cost, and enhanced manufacturing consistency. Furthermore, the system establishes a strong foundation for future advancements such as predictive quality analytics, adaptive learning models, edge-based deployment, cloud-integrated monitoring, and fully autonomous smart manufacturing solutions. By combining artificial intelligence, computer vision, and industrial automation technologies, the proposed framework contributes toward the development of smarter, safer, and more efficient next-generation manufacturing ecosystems aligned with the goals of Industry 4.0 and intelligent industrial transformation.</a:t>
            </a:r>
            <a:endParaRPr b="0" lang="en-IN" sz="1200" strike="noStrike" u="none">
              <a:solidFill>
                <a:srgbClr val="000000"/>
              </a:solidFill>
              <a:uFillTx/>
              <a:latin typeface="Arial"/>
            </a:endParaRPr>
          </a:p>
        </p:txBody>
      </p:sp>
      <p:sp>
        <p:nvSpPr>
          <p:cNvPr id="26" name="TextBox 25"/>
          <p:cNvSpPr/>
          <p:nvPr/>
        </p:nvSpPr>
        <p:spPr>
          <a:xfrm>
            <a:off x="5665320" y="7211520"/>
            <a:ext cx="5386320" cy="19184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200" strike="noStrike" u="none">
                <a:solidFill>
                  <a:schemeClr val="dk1"/>
                </a:solidFill>
                <a:uFillTx/>
                <a:latin typeface="Times New Roman"/>
              </a:rPr>
              <a:t>The proposed system utilizes a Vision Transformer-based deep learning model integrated with OpenCV and advanced image processing techniques to perform automated, real-time, and contactless feedstock quality assessment and defect detection in Industry 4.0 production environments. The system captures and analyzes feedstock surface images to identify defects, texture inconsistencies, and material irregularities with high precision and reliability. By leveraging transformer-based global feature extraction and intelligent visual analysis, the proposed solution ensures accurate quality grading, reduced human intervention, and improved operational efficiency across automated industrial production lines.</a:t>
            </a:r>
            <a:endParaRPr b="0" lang="en-IN" sz="1200" strike="noStrike" u="none">
              <a:solidFill>
                <a:srgbClr val="000000"/>
              </a:solidFill>
              <a:uFillTx/>
              <a:latin typeface="Arial"/>
            </a:endParaRPr>
          </a:p>
        </p:txBody>
      </p:sp>
      <p:sp>
        <p:nvSpPr>
          <p:cNvPr id="27" name="TextBox 15"/>
          <p:cNvSpPr/>
          <p:nvPr/>
        </p:nvSpPr>
        <p:spPr>
          <a:xfrm>
            <a:off x="259560" y="15657480"/>
            <a:ext cx="2624760" cy="11869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200" strike="noStrike" u="none">
                <a:solidFill>
                  <a:schemeClr val="dk1"/>
                </a:solidFill>
                <a:uFillTx/>
                <a:latin typeface="Times New Roman"/>
              </a:rPr>
              <a:t>The system integrates Vision Transformers, intelligent image processing, and automated quality grading to deliver accurate defect localization with minimal human intervention.</a:t>
            </a:r>
            <a:endParaRPr b="0" lang="en-IN" sz="1200" strike="noStrike" u="none">
              <a:solidFill>
                <a:srgbClr val="000000"/>
              </a:solidFill>
              <a:uFillTx/>
              <a:latin typeface="Arial"/>
            </a:endParaRPr>
          </a:p>
        </p:txBody>
      </p:sp>
      <p:pic>
        <p:nvPicPr>
          <p:cNvPr id="28" name="Picture 18" descr=""/>
          <p:cNvPicPr/>
          <p:nvPr/>
        </p:nvPicPr>
        <p:blipFill>
          <a:blip r:embed="rId3"/>
          <a:stretch/>
        </p:blipFill>
        <p:spPr>
          <a:xfrm>
            <a:off x="3784680" y="14626440"/>
            <a:ext cx="1063080" cy="833040"/>
          </a:xfrm>
          <a:prstGeom prst="rect">
            <a:avLst/>
          </a:prstGeom>
          <a:noFill/>
          <a:ln w="0">
            <a:noFill/>
          </a:ln>
        </p:spPr>
      </p:pic>
      <p:sp>
        <p:nvSpPr>
          <p:cNvPr id="29" name="TextBox 22"/>
          <p:cNvSpPr/>
          <p:nvPr/>
        </p:nvSpPr>
        <p:spPr>
          <a:xfrm>
            <a:off x="245520" y="16380720"/>
            <a:ext cx="5433840" cy="2725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200" strike="noStrike" u="none">
                <a:solidFill>
                  <a:schemeClr val="dk1"/>
                </a:solidFill>
                <a:uFillTx/>
                <a:latin typeface="Times New Roman"/>
              </a:rPr>
              <a:t>              </a:t>
            </a:r>
            <a:endParaRPr b="0" lang="en-IN" sz="1200" strike="noStrike" u="none">
              <a:solidFill>
                <a:srgbClr val="000000"/>
              </a:solidFill>
              <a:uFillTx/>
              <a:latin typeface="Arial"/>
            </a:endParaRPr>
          </a:p>
        </p:txBody>
      </p:sp>
      <p:sp>
        <p:nvSpPr>
          <p:cNvPr id="30" name="AutoShape 2"/>
          <p:cNvSpPr/>
          <p:nvPr/>
        </p:nvSpPr>
        <p:spPr>
          <a:xfrm>
            <a:off x="63360" y="-136440"/>
            <a:ext cx="7581600" cy="3914280"/>
          </a:xfrm>
          <a:prstGeom prst="rect">
            <a:avLst/>
          </a:prstGeom>
          <a:noFill/>
          <a:ln w="0">
            <a:noFill/>
          </a:ln>
        </p:spPr>
        <p:style>
          <a:lnRef idx="0"/>
          <a:fillRef idx="0"/>
          <a:effectRef idx="0"/>
          <a:fontRef idx="minor"/>
        </p:style>
        <p:txBody>
          <a:bodyPr numCol="1" spcCol="0" anchor="t">
            <a:noAutofit/>
          </a:bodyPr>
          <a:p>
            <a:pPr defTabSz="914400">
              <a:lnSpc>
                <a:spcPct val="100000"/>
              </a:lnSpc>
            </a:pPr>
            <a:endParaRPr b="0" lang="en-US" sz="1800" strike="noStrike" u="none">
              <a:solidFill>
                <a:schemeClr val="dk1"/>
              </a:solidFill>
              <a:uFillTx/>
              <a:latin typeface="Calibri"/>
            </a:endParaRPr>
          </a:p>
        </p:txBody>
      </p:sp>
      <p:sp>
        <p:nvSpPr>
          <p:cNvPr id="31" name="AutoShape 4"/>
          <p:cNvSpPr/>
          <p:nvPr/>
        </p:nvSpPr>
        <p:spPr>
          <a:xfrm>
            <a:off x="63360" y="-136440"/>
            <a:ext cx="7581600" cy="3914280"/>
          </a:xfrm>
          <a:prstGeom prst="rect">
            <a:avLst/>
          </a:prstGeom>
          <a:noFill/>
          <a:ln w="0">
            <a:noFill/>
          </a:ln>
        </p:spPr>
        <p:style>
          <a:lnRef idx="0"/>
          <a:fillRef idx="0"/>
          <a:effectRef idx="0"/>
          <a:fontRef idx="minor"/>
        </p:style>
        <p:txBody>
          <a:bodyPr numCol="1" spcCol="0" anchor="t">
            <a:noAutofit/>
          </a:bodyPr>
          <a:p>
            <a:pPr defTabSz="914400">
              <a:lnSpc>
                <a:spcPct val="100000"/>
              </a:lnSpc>
            </a:pPr>
            <a:endParaRPr b="0" lang="en-US" sz="1800" strike="noStrike" u="none">
              <a:solidFill>
                <a:schemeClr val="dk1"/>
              </a:solidFill>
              <a:uFillTx/>
              <a:latin typeface="Calibri"/>
            </a:endParaRPr>
          </a:p>
        </p:txBody>
      </p:sp>
      <p:sp>
        <p:nvSpPr>
          <p:cNvPr id="32" name="Rectangle 33"/>
          <p:cNvSpPr/>
          <p:nvPr/>
        </p:nvSpPr>
        <p:spPr>
          <a:xfrm>
            <a:off x="2990880" y="15657480"/>
            <a:ext cx="2580840" cy="11869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200" strike="noStrike" u="none">
                <a:solidFill>
                  <a:schemeClr val="dk1"/>
                </a:solidFill>
                <a:uFillTx/>
                <a:latin typeface="Times New Roman"/>
              </a:rPr>
              <a:t>The proposed solution improves industrial quality monitoring through automated and scalable AI-driven inspection, reducing manual effort while increasing accuracy and consistency.</a:t>
            </a:r>
            <a:endParaRPr b="0" lang="en-IN" sz="1200" strike="noStrike" u="none">
              <a:solidFill>
                <a:srgbClr val="000000"/>
              </a:solidFill>
              <a:uFillTx/>
              <a:latin typeface="Arial"/>
            </a:endParaRPr>
          </a:p>
        </p:txBody>
      </p:sp>
      <p:sp>
        <p:nvSpPr>
          <p:cNvPr id="33" name="TextBox 11"/>
          <p:cNvSpPr/>
          <p:nvPr/>
        </p:nvSpPr>
        <p:spPr>
          <a:xfrm>
            <a:off x="5935320" y="12434760"/>
            <a:ext cx="4743000" cy="699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000" strike="noStrike" u="none">
                <a:solidFill>
                  <a:srgbClr val="ff0000"/>
                </a:solidFill>
                <a:uFillTx/>
                <a:latin typeface="Times New Roman"/>
              </a:rPr>
              <a:t>                         </a:t>
            </a:r>
            <a:r>
              <a:rPr b="1" lang="en-US" sz="2000" strike="noStrike" u="none">
                <a:solidFill>
                  <a:srgbClr val="ff0000"/>
                </a:solidFill>
                <a:uFillTx/>
                <a:latin typeface="Times New Roman"/>
              </a:rPr>
              <a:t>CONCLUSION</a:t>
            </a:r>
            <a:endParaRPr b="0" lang="en-IN" sz="2000" strike="noStrike" u="none">
              <a:solidFill>
                <a:srgbClr val="000000"/>
              </a:solidFill>
              <a:uFillTx/>
              <a:latin typeface="Arial"/>
            </a:endParaRPr>
          </a:p>
        </p:txBody>
      </p:sp>
      <p:sp>
        <p:nvSpPr>
          <p:cNvPr id="34" name="PlaceHolder 1"/>
          <p:cNvSpPr>
            <a:spLocks noGrp="1"/>
          </p:cNvSpPr>
          <p:nvPr>
            <p:ph type="title"/>
          </p:nvPr>
        </p:nvSpPr>
        <p:spPr>
          <a:xfrm>
            <a:off x="545760" y="2752200"/>
            <a:ext cx="10778760" cy="791640"/>
          </a:xfrm>
          <a:prstGeom prst="rect">
            <a:avLst/>
          </a:prstGeom>
          <a:solidFill>
            <a:schemeClr val="lt1"/>
          </a:solidFill>
          <a:ln w="12600">
            <a:solidFill>
              <a:schemeClr val="lt1"/>
            </a:solidFill>
            <a:round/>
          </a:ln>
        </p:spPr>
        <p:txBody>
          <a:bodyPr lIns="91440" rIns="91440" tIns="45720" bIns="45720" anchor="b">
            <a:noAutofit/>
          </a:bodyPr>
          <a:p>
            <a:pPr indent="0" algn="ctr" defTabSz="1143000">
              <a:lnSpc>
                <a:spcPct val="90000"/>
              </a:lnSpc>
              <a:buNone/>
            </a:pPr>
            <a:r>
              <a:rPr b="1" lang="en-US" sz="2500" strike="noStrike" u="none">
                <a:solidFill>
                  <a:schemeClr val="dk1"/>
                </a:solidFill>
                <a:uFillTx/>
                <a:latin typeface="Times New Roman"/>
              </a:rPr>
              <a:t>FEEDSTOCK QUALITY ASSESSMENT AND DEFECT DETECTION </a:t>
            </a:r>
            <a:endParaRPr b="0" lang="en-US" sz="2500" strike="noStrike" u="none">
              <a:solidFill>
                <a:schemeClr val="dk1"/>
              </a:solidFill>
              <a:uFillTx/>
              <a:latin typeface="Calibri"/>
            </a:endParaRPr>
          </a:p>
        </p:txBody>
      </p:sp>
      <p:sp>
        <p:nvSpPr>
          <p:cNvPr id="35" name="TextBox 12"/>
          <p:cNvSpPr/>
          <p:nvPr/>
        </p:nvSpPr>
        <p:spPr>
          <a:xfrm>
            <a:off x="760320" y="3795480"/>
            <a:ext cx="10674360" cy="912600"/>
          </a:xfrm>
          <a:prstGeom prst="rect">
            <a:avLst/>
          </a:prstGeom>
          <a:noFill/>
          <a:ln w="12700">
            <a:solidFill>
              <a:srgbClr val="ffffff"/>
            </a:solidFill>
            <a:round/>
          </a:ln>
        </p:spPr>
        <p:style>
          <a:lnRef idx="0"/>
          <a:fillRef idx="0"/>
          <a:effectRef idx="0"/>
          <a:fontRef idx="minor"/>
        </p:style>
        <p:txBody>
          <a:bodyPr lIns="90000" rIns="90000" tIns="45000" bIns="45000" anchor="t">
            <a:spAutoFit/>
          </a:bodyPr>
          <a:p>
            <a:pPr defTabSz="914400">
              <a:lnSpc>
                <a:spcPct val="100000"/>
              </a:lnSpc>
            </a:pPr>
            <a:r>
              <a:rPr b="1" lang="en-US" sz="1800" strike="noStrike" u="none">
                <a:solidFill>
                  <a:schemeClr val="accent1">
                    <a:lumMod val="75000"/>
                  </a:schemeClr>
                </a:solidFill>
                <a:uFillTx/>
                <a:latin typeface="Times New Roman"/>
              </a:rPr>
              <a:t>Name of the Students : </a:t>
            </a:r>
            <a:r>
              <a:rPr b="1" lang="en-US" sz="1800" strike="noStrike" u="none">
                <a:solidFill>
                  <a:schemeClr val="dk1"/>
                </a:solidFill>
                <a:uFillTx/>
                <a:latin typeface="Times New Roman"/>
              </a:rPr>
              <a:t>B. Adharssh Kumar, Prasana. B, Jai Akash. S, A. Shaik Roshith</a:t>
            </a:r>
            <a:endParaRPr b="0" lang="en-IN" sz="1800" strike="noStrike" u="none">
              <a:solidFill>
                <a:srgbClr val="000000"/>
              </a:solidFill>
              <a:uFillTx/>
              <a:latin typeface="Arial"/>
            </a:endParaRPr>
          </a:p>
          <a:p>
            <a:pPr defTabSz="914400">
              <a:lnSpc>
                <a:spcPct val="100000"/>
              </a:lnSpc>
            </a:pPr>
            <a:r>
              <a:rPr b="1" lang="en-US" sz="1800" strike="noStrike" u="none">
                <a:solidFill>
                  <a:schemeClr val="accent1">
                    <a:lumMod val="75000"/>
                  </a:schemeClr>
                </a:solidFill>
                <a:uFillTx/>
                <a:latin typeface="Times New Roman"/>
              </a:rPr>
              <a:t>Dept/Year/Sec.            : </a:t>
            </a:r>
            <a:r>
              <a:rPr b="1" lang="en-US" sz="1800" strike="noStrike" u="none">
                <a:solidFill>
                  <a:schemeClr val="dk1"/>
                </a:solidFill>
                <a:uFillTx/>
                <a:latin typeface="Times New Roman"/>
              </a:rPr>
              <a:t>AI&amp;ML /III/A</a:t>
            </a:r>
            <a:endParaRPr b="0" lang="en-IN" sz="1800" strike="noStrike" u="none">
              <a:solidFill>
                <a:srgbClr val="000000"/>
              </a:solidFill>
              <a:uFillTx/>
              <a:latin typeface="Arial"/>
            </a:endParaRPr>
          </a:p>
          <a:p>
            <a:pPr defTabSz="914400">
              <a:lnSpc>
                <a:spcPct val="100000"/>
              </a:lnSpc>
            </a:pPr>
            <a:r>
              <a:rPr b="1" lang="en-US" sz="1800" strike="noStrike" u="none">
                <a:solidFill>
                  <a:schemeClr val="accent1">
                    <a:lumMod val="75000"/>
                  </a:schemeClr>
                </a:solidFill>
                <a:uFillTx/>
                <a:latin typeface="Times New Roman"/>
              </a:rPr>
              <a:t>Name of the Guide     : </a:t>
            </a:r>
            <a:r>
              <a:rPr b="1" lang="en-US" sz="1800" strike="noStrike" u="none">
                <a:solidFill>
                  <a:schemeClr val="dk1"/>
                </a:solidFill>
                <a:uFillTx/>
                <a:latin typeface="Times New Roman"/>
              </a:rPr>
              <a:t>Mr. S. Balaji, </a:t>
            </a:r>
            <a:r>
              <a:rPr b="1" lang="en-IN" sz="1800" strike="noStrike" u="none">
                <a:solidFill>
                  <a:schemeClr val="dk1"/>
                </a:solidFill>
                <a:uFillTx/>
                <a:latin typeface="Times New Roman"/>
                <a:ea typeface="Times New Roman"/>
              </a:rPr>
              <a:t>Assistant Professor / AI&amp;ML</a:t>
            </a:r>
            <a:endParaRPr b="0" lang="en-IN" sz="1800" strike="noStrike" u="none">
              <a:solidFill>
                <a:srgbClr val="000000"/>
              </a:solidFill>
              <a:uFillTx/>
              <a:latin typeface="Arial"/>
            </a:endParaRPr>
          </a:p>
        </p:txBody>
      </p:sp>
      <p:pic>
        <p:nvPicPr>
          <p:cNvPr id="36" name="Picture 17" descr=""/>
          <p:cNvPicPr/>
          <p:nvPr/>
        </p:nvPicPr>
        <p:blipFill>
          <a:blip r:embed="rId4"/>
          <a:stretch/>
        </p:blipFill>
        <p:spPr>
          <a:xfrm>
            <a:off x="1171800" y="8661960"/>
            <a:ext cx="3351240" cy="2227680"/>
          </a:xfrm>
          <a:prstGeom prst="rect">
            <a:avLst/>
          </a:prstGeom>
          <a:noFill/>
          <a:ln w="0">
            <a:noFill/>
          </a:ln>
        </p:spPr>
      </p:pic>
      <p:pic>
        <p:nvPicPr>
          <p:cNvPr id="37" name="" descr=""/>
          <p:cNvPicPr/>
          <p:nvPr/>
        </p:nvPicPr>
        <p:blipFill>
          <a:blip r:embed="rId5"/>
          <a:stretch/>
        </p:blipFill>
        <p:spPr>
          <a:xfrm>
            <a:off x="5961960" y="9136440"/>
            <a:ext cx="4803120" cy="32022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1319</TotalTime>
  <Application>LibreOfficeDev/24.8.7.2.0$Android_AARCH64 LibreOffice_project/</Application>
  <AppVersion>15.0000</AppVersion>
  <Words>796</Words>
  <Paragraphs>32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2017-05-12T05:32:54Z</dcterms:created>
  <dc:creator>sriram</dc:creator>
  <dc:description/>
  <dc:language>en-IN</dc:language>
  <cp:lastModifiedBy/>
  <dcterms:modified xsi:type="dcterms:W3CDTF">2026-05-10T17:34:36Z</dcterms:modified>
  <cp:revision>129</cp:revision>
  <dc:subject/>
  <dc:title>BLOOD GROUP IDENTIFICATION SLIDE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vt:i4>
  </property>
</Properties>
</file>